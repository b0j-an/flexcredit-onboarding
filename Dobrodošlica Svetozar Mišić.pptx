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Rajdhani Bold" charset="1" panose="02000000000000000000"/>
      <p:regular r:id="rId24"/>
    </p:embeddedFont>
    <p:embeddedFont>
      <p:font typeface="Source Sans Pro" charset="1" panose="020B0503030403020204"/>
      <p:regular r:id="rId25"/>
    </p:embeddedFont>
    <p:embeddedFont>
      <p:font typeface="Source Sans Pro Bold" charset="1" panose="020B0703030403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11" Target="../media/image37.jpeg" Type="http://schemas.openxmlformats.org/officeDocument/2006/relationships/image"/><Relationship Id="rId12" Target="../media/image4.png" Type="http://schemas.openxmlformats.org/officeDocument/2006/relationships/image"/><Relationship Id="rId13" Target="../media/image38.jpeg" Type="http://schemas.openxmlformats.org/officeDocument/2006/relationships/image"/><Relationship Id="rId14" Target="../media/image39.jpe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jpe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4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2" Target="../media/image4.pn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44.png" Type="http://schemas.openxmlformats.org/officeDocument/2006/relationships/image"/><Relationship Id="rId6" Target="../media/image45.jpeg" Type="http://schemas.openxmlformats.org/officeDocument/2006/relationships/image"/><Relationship Id="rId7" Target="../media/image46.png" Type="http://schemas.openxmlformats.org/officeDocument/2006/relationships/image"/><Relationship Id="rId8" Target="../media/image47.jpe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4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0.png" Type="http://schemas.openxmlformats.org/officeDocument/2006/relationships/image"/><Relationship Id="rId4" Target="../media/image51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2" Target="../media/image52.png" Type="http://schemas.openxmlformats.org/officeDocument/2006/relationships/image"/><Relationship Id="rId3" Target="../media/image53.sv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57.png" Type="http://schemas.openxmlformats.org/officeDocument/2006/relationships/image"/><Relationship Id="rId8" Target="../media/image58.png" Type="http://schemas.openxmlformats.org/officeDocument/2006/relationships/image"/><Relationship Id="rId9" Target="../media/image59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0.png" Type="http://schemas.openxmlformats.org/officeDocument/2006/relationships/image"/><Relationship Id="rId4" Target="../media/image61.svg" Type="http://schemas.openxmlformats.org/officeDocument/2006/relationships/image"/><Relationship Id="rId5" Target="../media/image62.png" Type="http://schemas.openxmlformats.org/officeDocument/2006/relationships/image"/><Relationship Id="rId6" Target="../media/image6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Relationship Id="rId3" Target="../media/image6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A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17684" y="3941583"/>
            <a:ext cx="12441616" cy="5316717"/>
          </a:xfrm>
          <a:custGeom>
            <a:avLst/>
            <a:gdLst/>
            <a:ahLst/>
            <a:cxnLst/>
            <a:rect r="r" b="b" t="t" l="l"/>
            <a:pathLst>
              <a:path h="5316717" w="12441616">
                <a:moveTo>
                  <a:pt x="0" y="0"/>
                </a:moveTo>
                <a:lnTo>
                  <a:pt x="12441616" y="0"/>
                </a:lnTo>
                <a:lnTo>
                  <a:pt x="12441616" y="5316717"/>
                </a:lnTo>
                <a:lnTo>
                  <a:pt x="0" y="53167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671208"/>
            <a:ext cx="8961855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b="true" sz="6600" strike="noStrike" u="none">
                <a:solidFill>
                  <a:srgbClr val="1696D4"/>
                </a:solidFill>
                <a:latin typeface="Rajdhani Bold"/>
                <a:ea typeface="Rajdhani Bold"/>
                <a:cs typeface="Rajdhani Bold"/>
                <a:sym typeface="Rajdhani Bold"/>
              </a:rPr>
              <a:t>DOBRO NAM DOŠAO U TIM!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94677"/>
            <a:ext cx="5915876" cy="1028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58"/>
              </a:lnSpc>
              <a:spcBef>
                <a:spcPct val="0"/>
              </a:spcBef>
            </a:pPr>
            <a:r>
              <a:rPr lang="en-US" b="true" sz="6799" strike="noStrike" u="none">
                <a:solidFill>
                  <a:srgbClr val="90C226"/>
                </a:solidFill>
                <a:latin typeface="Rajdhani Bold"/>
                <a:ea typeface="Rajdhani Bold"/>
                <a:cs typeface="Rajdhani Bold"/>
                <a:sym typeface="Rajdhani Bold"/>
              </a:rPr>
              <a:t>SVETOZARE,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634355"/>
            <a:ext cx="5775553" cy="5623945"/>
          </a:xfrm>
          <a:custGeom>
            <a:avLst/>
            <a:gdLst/>
            <a:ahLst/>
            <a:cxnLst/>
            <a:rect r="r" b="b" t="t" l="l"/>
            <a:pathLst>
              <a:path h="5623945" w="5775553">
                <a:moveTo>
                  <a:pt x="0" y="0"/>
                </a:moveTo>
                <a:lnTo>
                  <a:pt x="5775553" y="0"/>
                </a:lnTo>
                <a:lnTo>
                  <a:pt x="5775553" y="5623945"/>
                </a:lnTo>
                <a:lnTo>
                  <a:pt x="0" y="56239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64188" y="290925"/>
            <a:ext cx="1393117" cy="1475550"/>
          </a:xfrm>
          <a:custGeom>
            <a:avLst/>
            <a:gdLst/>
            <a:ahLst/>
            <a:cxnLst/>
            <a:rect r="r" b="b" t="t" l="l"/>
            <a:pathLst>
              <a:path h="1475550" w="1393117">
                <a:moveTo>
                  <a:pt x="0" y="0"/>
                </a:moveTo>
                <a:lnTo>
                  <a:pt x="1393116" y="0"/>
                </a:lnTo>
                <a:lnTo>
                  <a:pt x="1393116" y="1475550"/>
                </a:lnTo>
                <a:lnTo>
                  <a:pt x="0" y="14755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19175"/>
            <a:ext cx="15435488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003A53"/>
                </a:solidFill>
                <a:latin typeface="Rajdhani Bold"/>
                <a:ea typeface="Rajdhani Bold"/>
                <a:cs typeface="Rajdhani Bold"/>
                <a:sym typeface="Rajdhani Bold"/>
              </a:rPr>
              <a:t>PROCES INTEGRACIJE</a:t>
            </a:r>
          </a:p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003A53"/>
                </a:solidFill>
                <a:latin typeface="Rajdhani Bold"/>
                <a:ea typeface="Rajdhani Bold"/>
                <a:cs typeface="Rajdhani Bold"/>
                <a:sym typeface="Rajdhani Bold"/>
              </a:rPr>
              <a:t>U KOMPANIJU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46444" y="3722178"/>
            <a:ext cx="7488554" cy="543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253365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Upoznavanje sa kompanijom</a:t>
            </a:r>
          </a:p>
          <a:p>
            <a:pPr algn="l" marL="760095" indent="-253365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Upoznavanje sa kolegama</a:t>
            </a:r>
          </a:p>
          <a:p>
            <a:pPr algn="l" marL="760095" indent="-253365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Tvoja uloga</a:t>
            </a:r>
          </a:p>
          <a:p>
            <a:pPr algn="l" marL="760095" indent="-253365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Obučavanje i kontinuirana podrška</a:t>
            </a:r>
          </a:p>
          <a:p>
            <a:pPr algn="l" marL="760095" indent="-253365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Postavljanje ciljeva i definisanje radnih zadataka</a:t>
            </a:r>
          </a:p>
          <a:p>
            <a:pPr algn="l" marL="760095" indent="-253365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Povratne informacija i usmjeravanje u toku tvog stručnog osposobljavanja </a:t>
            </a:r>
          </a:p>
          <a:p>
            <a:pPr algn="l" marL="760095" indent="-253365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Testiranje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A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029864"/>
            <a:ext cx="6189509" cy="6228436"/>
          </a:xfrm>
          <a:custGeom>
            <a:avLst/>
            <a:gdLst/>
            <a:ahLst/>
            <a:cxnLst/>
            <a:rect r="r" b="b" t="t" l="l"/>
            <a:pathLst>
              <a:path h="6228436" w="6189509">
                <a:moveTo>
                  <a:pt x="0" y="0"/>
                </a:moveTo>
                <a:lnTo>
                  <a:pt x="6189509" y="0"/>
                </a:lnTo>
                <a:lnTo>
                  <a:pt x="6189509" y="6228436"/>
                </a:lnTo>
                <a:lnTo>
                  <a:pt x="0" y="6228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19175"/>
            <a:ext cx="6586603" cy="10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599" b="true">
                <a:solidFill>
                  <a:srgbClr val="FFFFFF"/>
                </a:solidFill>
                <a:latin typeface="Rajdhani Bold"/>
                <a:ea typeface="Rajdhani Bold"/>
                <a:cs typeface="Rajdhani Bold"/>
                <a:sym typeface="Rajdhani Bold"/>
              </a:rPr>
              <a:t>KO SMO MI?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72640" y="3560902"/>
            <a:ext cx="6586602" cy="509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253365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Najbrže rastuća kompanija u industriji</a:t>
            </a:r>
          </a:p>
          <a:p>
            <a:pPr algn="l" marL="760095" indent="-253365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Prva mikrokreditna organizacija u RS po broju filijala </a:t>
            </a:r>
          </a:p>
          <a:p>
            <a:pPr algn="l" marL="760095" indent="-253365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Druga mikrokreditna organizacija u RS po broju zaposlenih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464188" y="290925"/>
            <a:ext cx="1393117" cy="1475550"/>
          </a:xfrm>
          <a:custGeom>
            <a:avLst/>
            <a:gdLst/>
            <a:ahLst/>
            <a:cxnLst/>
            <a:rect r="r" b="b" t="t" l="l"/>
            <a:pathLst>
              <a:path h="1475550" w="1393117">
                <a:moveTo>
                  <a:pt x="0" y="0"/>
                </a:moveTo>
                <a:lnTo>
                  <a:pt x="1393116" y="0"/>
                </a:lnTo>
                <a:lnTo>
                  <a:pt x="1393116" y="1475550"/>
                </a:lnTo>
                <a:lnTo>
                  <a:pt x="0" y="14755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56308" y="0"/>
            <a:ext cx="10131692" cy="10287002"/>
            <a:chOff x="0" y="0"/>
            <a:chExt cx="13508923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0886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508862">
                  <a:moveTo>
                    <a:pt x="0" y="0"/>
                  </a:moveTo>
                  <a:lnTo>
                    <a:pt x="13508862" y="0"/>
                  </a:lnTo>
                  <a:lnTo>
                    <a:pt x="1350886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1839" t="0" r="-7184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07441" y="3277079"/>
            <a:ext cx="5593803" cy="506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</a:p>
          <a:p>
            <a:pPr algn="ctr">
              <a:lnSpc>
                <a:spcPts val="5758"/>
              </a:lnSpc>
            </a:pPr>
            <a:r>
              <a:rPr lang="en-US" sz="4800" b="true">
                <a:solidFill>
                  <a:srgbClr val="003A53"/>
                </a:solidFill>
                <a:latin typeface="Rajdhani Bold"/>
                <a:ea typeface="Rajdhani Bold"/>
                <a:cs typeface="Rajdhani Bold"/>
                <a:sym typeface="Rajdhani Bold"/>
              </a:rPr>
              <a:t>Uz sve ovo, dio smo jake finansijske grupacije!</a:t>
            </a:r>
          </a:p>
          <a:p>
            <a:pPr algn="ctr">
              <a:lnSpc>
                <a:spcPts val="5758"/>
              </a:lnSpc>
            </a:pPr>
          </a:p>
          <a:p>
            <a:pPr algn="ctr">
              <a:lnSpc>
                <a:spcPts val="5758"/>
              </a:lnSpc>
            </a:pPr>
          </a:p>
          <a:p>
            <a:pPr algn="l">
              <a:lnSpc>
                <a:spcPts val="5758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2987320" y="7150100"/>
            <a:ext cx="1428750" cy="685800"/>
            <a:chOff x="0" y="0"/>
            <a:chExt cx="19050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5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464188" y="290925"/>
            <a:ext cx="1393117" cy="1475550"/>
          </a:xfrm>
          <a:custGeom>
            <a:avLst/>
            <a:gdLst/>
            <a:ahLst/>
            <a:cxnLst/>
            <a:rect r="r" b="b" t="t" l="l"/>
            <a:pathLst>
              <a:path h="1475550" w="1393117">
                <a:moveTo>
                  <a:pt x="0" y="0"/>
                </a:moveTo>
                <a:lnTo>
                  <a:pt x="1393116" y="0"/>
                </a:lnTo>
                <a:lnTo>
                  <a:pt x="1393116" y="1475550"/>
                </a:lnTo>
                <a:lnTo>
                  <a:pt x="0" y="14755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A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21839" y="950595"/>
            <a:ext cx="1150555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FFFFFF"/>
                </a:solidFill>
                <a:latin typeface="Rajdhani Bold"/>
                <a:ea typeface="Rajdhani Bold"/>
                <a:cs typeface="Rajdhani Bold"/>
                <a:sym typeface="Rajdhani Bold"/>
              </a:rPr>
              <a:t>AKO SE PREDSTAVLJAMO U BROJEVIMA...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916112" y="3048112"/>
            <a:ext cx="4537043" cy="2733676"/>
          </a:xfrm>
          <a:custGeom>
            <a:avLst/>
            <a:gdLst/>
            <a:ahLst/>
            <a:cxnLst/>
            <a:rect r="r" b="b" t="t" l="l"/>
            <a:pathLst>
              <a:path h="2733676" w="4537043">
                <a:moveTo>
                  <a:pt x="0" y="0"/>
                </a:moveTo>
                <a:lnTo>
                  <a:pt x="4537043" y="0"/>
                </a:lnTo>
                <a:lnTo>
                  <a:pt x="4537043" y="2733676"/>
                </a:lnTo>
                <a:lnTo>
                  <a:pt x="0" y="2733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26602" y="3876977"/>
            <a:ext cx="4316094" cy="119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8"/>
              </a:lnSpc>
            </a:pPr>
            <a:r>
              <a:rPr lang="en-US" sz="435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Prodajna mreža od 61 filijala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875462" y="3048112"/>
            <a:ext cx="4537043" cy="2733676"/>
          </a:xfrm>
          <a:custGeom>
            <a:avLst/>
            <a:gdLst/>
            <a:ahLst/>
            <a:cxnLst/>
            <a:rect r="r" b="b" t="t" l="l"/>
            <a:pathLst>
              <a:path h="2733676" w="4537043">
                <a:moveTo>
                  <a:pt x="0" y="0"/>
                </a:moveTo>
                <a:lnTo>
                  <a:pt x="4537043" y="0"/>
                </a:lnTo>
                <a:lnTo>
                  <a:pt x="4537043" y="2733676"/>
                </a:lnTo>
                <a:lnTo>
                  <a:pt x="0" y="27336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95477" y="3581702"/>
            <a:ext cx="4316094" cy="1790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8"/>
              </a:lnSpc>
            </a:pPr>
            <a:r>
              <a:rPr lang="en-US" sz="435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Agentska mreža Pošta RS sa 67 prodajnih mjesta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834811" y="3048112"/>
            <a:ext cx="4537043" cy="2733676"/>
          </a:xfrm>
          <a:custGeom>
            <a:avLst/>
            <a:gdLst/>
            <a:ahLst/>
            <a:cxnLst/>
            <a:rect r="r" b="b" t="t" l="l"/>
            <a:pathLst>
              <a:path h="2733676" w="4537043">
                <a:moveTo>
                  <a:pt x="0" y="0"/>
                </a:moveTo>
                <a:lnTo>
                  <a:pt x="4537043" y="0"/>
                </a:lnTo>
                <a:lnTo>
                  <a:pt x="4537043" y="2733676"/>
                </a:lnTo>
                <a:lnTo>
                  <a:pt x="0" y="2733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945301" y="3876977"/>
            <a:ext cx="4316094" cy="119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8"/>
              </a:lnSpc>
            </a:pPr>
            <a:r>
              <a:rPr lang="en-US" sz="435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Kontakt centar sa 40+ operatera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916112" y="6204063"/>
            <a:ext cx="4537043" cy="2733674"/>
          </a:xfrm>
          <a:custGeom>
            <a:avLst/>
            <a:gdLst/>
            <a:ahLst/>
            <a:cxnLst/>
            <a:rect r="r" b="b" t="t" l="l"/>
            <a:pathLst>
              <a:path h="2733674" w="4537043">
                <a:moveTo>
                  <a:pt x="0" y="0"/>
                </a:moveTo>
                <a:lnTo>
                  <a:pt x="4537043" y="0"/>
                </a:lnTo>
                <a:lnTo>
                  <a:pt x="4537043" y="2733674"/>
                </a:lnTo>
                <a:lnTo>
                  <a:pt x="0" y="27336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26602" y="6737653"/>
            <a:ext cx="4316094" cy="119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8"/>
              </a:lnSpc>
            </a:pPr>
            <a:r>
              <a:rPr lang="en-US" sz="435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20+ hiljada  aktivnih klijenata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875462" y="6204063"/>
            <a:ext cx="4537043" cy="2733674"/>
          </a:xfrm>
          <a:custGeom>
            <a:avLst/>
            <a:gdLst/>
            <a:ahLst/>
            <a:cxnLst/>
            <a:rect r="r" b="b" t="t" l="l"/>
            <a:pathLst>
              <a:path h="2733674" w="4537043">
                <a:moveTo>
                  <a:pt x="0" y="0"/>
                </a:moveTo>
                <a:lnTo>
                  <a:pt x="4537043" y="0"/>
                </a:lnTo>
                <a:lnTo>
                  <a:pt x="4537043" y="2733674"/>
                </a:lnTo>
                <a:lnTo>
                  <a:pt x="0" y="2733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985952" y="6737653"/>
            <a:ext cx="4316094" cy="119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8"/>
              </a:lnSpc>
            </a:pPr>
            <a:r>
              <a:rPr lang="en-US" sz="435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199 hiljada isplaćenih kredita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834811" y="6204063"/>
            <a:ext cx="4537043" cy="2733674"/>
          </a:xfrm>
          <a:custGeom>
            <a:avLst/>
            <a:gdLst/>
            <a:ahLst/>
            <a:cxnLst/>
            <a:rect r="r" b="b" t="t" l="l"/>
            <a:pathLst>
              <a:path h="2733674" w="4537043">
                <a:moveTo>
                  <a:pt x="0" y="0"/>
                </a:moveTo>
                <a:lnTo>
                  <a:pt x="4537043" y="0"/>
                </a:lnTo>
                <a:lnTo>
                  <a:pt x="4537043" y="2733674"/>
                </a:lnTo>
                <a:lnTo>
                  <a:pt x="0" y="27336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945301" y="6737653"/>
            <a:ext cx="4316094" cy="1790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8"/>
              </a:lnSpc>
            </a:pPr>
            <a:r>
              <a:rPr lang="en-US" sz="435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Dva brenda</a:t>
            </a:r>
          </a:p>
          <a:p>
            <a:pPr algn="ctr">
              <a:lnSpc>
                <a:spcPts val="4698"/>
              </a:lnSpc>
            </a:pPr>
            <a:r>
              <a:rPr lang="en-US" sz="435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 Flex Credit  </a:t>
            </a:r>
          </a:p>
          <a:p>
            <a:pPr algn="ctr">
              <a:lnSpc>
                <a:spcPts val="4698"/>
              </a:lnSpc>
            </a:pPr>
            <a:r>
              <a:rPr lang="en-US" sz="435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 Uzmi novac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464188" y="290925"/>
            <a:ext cx="1393117" cy="1475550"/>
          </a:xfrm>
          <a:custGeom>
            <a:avLst/>
            <a:gdLst/>
            <a:ahLst/>
            <a:cxnLst/>
            <a:rect r="r" b="b" t="t" l="l"/>
            <a:pathLst>
              <a:path h="1475550" w="1393117">
                <a:moveTo>
                  <a:pt x="0" y="0"/>
                </a:moveTo>
                <a:lnTo>
                  <a:pt x="1393116" y="0"/>
                </a:lnTo>
                <a:lnTo>
                  <a:pt x="1393116" y="1475550"/>
                </a:lnTo>
                <a:lnTo>
                  <a:pt x="0" y="14755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349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30482" y="-1623878"/>
            <a:ext cx="12781487" cy="12390927"/>
            <a:chOff x="0" y="0"/>
            <a:chExt cx="17041982" cy="1652123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573976" y="2165171"/>
              <a:ext cx="12438084" cy="13716003"/>
              <a:chOff x="0" y="0"/>
              <a:chExt cx="12438084" cy="1371600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2438126" cy="137160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0" w="12438126">
                    <a:moveTo>
                      <a:pt x="0" y="0"/>
                    </a:moveTo>
                    <a:lnTo>
                      <a:pt x="12438126" y="0"/>
                    </a:lnTo>
                    <a:lnTo>
                      <a:pt x="12438126" y="13716000"/>
                    </a:lnTo>
                    <a:lnTo>
                      <a:pt x="0" y="13716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23516" t="0" r="-23515" b="0"/>
                </a:stretch>
              </a:blipFill>
            </p:spPr>
          </p:sp>
        </p:grpSp>
        <p:sp>
          <p:nvSpPr>
            <p:cNvPr name="Freeform 5" id="5"/>
            <p:cNvSpPr/>
            <p:nvPr/>
          </p:nvSpPr>
          <p:spPr>
            <a:xfrm flipH="false" flipV="false" rot="5106016">
              <a:off x="10425102" y="10279218"/>
              <a:ext cx="10385740" cy="1968143"/>
            </a:xfrm>
            <a:custGeom>
              <a:avLst/>
              <a:gdLst/>
              <a:ahLst/>
              <a:cxnLst/>
              <a:rect r="r" b="b" t="t" l="l"/>
              <a:pathLst>
                <a:path h="1968143" w="10385740">
                  <a:moveTo>
                    <a:pt x="0" y="0"/>
                  </a:moveTo>
                  <a:lnTo>
                    <a:pt x="10385740" y="0"/>
                  </a:lnTo>
                  <a:lnTo>
                    <a:pt x="10385740" y="1968144"/>
                  </a:lnTo>
                  <a:lnTo>
                    <a:pt x="0" y="1968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5717660">
              <a:off x="-3733839" y="9635583"/>
              <a:ext cx="10385740" cy="1968143"/>
            </a:xfrm>
            <a:custGeom>
              <a:avLst/>
              <a:gdLst/>
              <a:ahLst/>
              <a:cxnLst/>
              <a:rect r="r" b="b" t="t" l="l"/>
              <a:pathLst>
                <a:path h="1968143" w="10385740">
                  <a:moveTo>
                    <a:pt x="10385740" y="0"/>
                  </a:moveTo>
                  <a:lnTo>
                    <a:pt x="0" y="0"/>
                  </a:lnTo>
                  <a:lnTo>
                    <a:pt x="0" y="1968144"/>
                  </a:lnTo>
                  <a:lnTo>
                    <a:pt x="10385740" y="1968144"/>
                  </a:lnTo>
                  <a:lnTo>
                    <a:pt x="1038574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1422617">
              <a:off x="379052" y="2005051"/>
              <a:ext cx="10385740" cy="1968143"/>
            </a:xfrm>
            <a:custGeom>
              <a:avLst/>
              <a:gdLst/>
              <a:ahLst/>
              <a:cxnLst/>
              <a:rect r="r" b="b" t="t" l="l"/>
              <a:pathLst>
                <a:path h="1968143" w="10385740">
                  <a:moveTo>
                    <a:pt x="0" y="0"/>
                  </a:moveTo>
                  <a:lnTo>
                    <a:pt x="10385740" y="0"/>
                  </a:lnTo>
                  <a:lnTo>
                    <a:pt x="10385740" y="1968143"/>
                  </a:lnTo>
                  <a:lnTo>
                    <a:pt x="0" y="1968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464188" y="290925"/>
            <a:ext cx="1393117" cy="1475550"/>
          </a:xfrm>
          <a:custGeom>
            <a:avLst/>
            <a:gdLst/>
            <a:ahLst/>
            <a:cxnLst/>
            <a:rect r="r" b="b" t="t" l="l"/>
            <a:pathLst>
              <a:path h="1475550" w="1393117">
                <a:moveTo>
                  <a:pt x="0" y="0"/>
                </a:moveTo>
                <a:lnTo>
                  <a:pt x="1393116" y="0"/>
                </a:lnTo>
                <a:lnTo>
                  <a:pt x="1393116" y="1475550"/>
                </a:lnTo>
                <a:lnTo>
                  <a:pt x="0" y="1475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485195" y="3048190"/>
            <a:ext cx="6764580" cy="72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4800" b="true">
                <a:solidFill>
                  <a:srgbClr val="FFFFFF"/>
                </a:solidFill>
                <a:latin typeface="Rajdhani Bold"/>
                <a:ea typeface="Rajdhani Bold"/>
                <a:cs typeface="Rajdhani Bold"/>
                <a:sym typeface="Rajdhani Bold"/>
              </a:rPr>
              <a:t>... A NAŠE SJEDIŠTE?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14557" y="3916265"/>
            <a:ext cx="5935439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Za godinu dana smo ga prerasli , te su se Kontakt centar i Kreditni odjel preselili u nove,  prostrane kancelarije.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354" r="-8674" b="-52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37788" y="8691046"/>
            <a:ext cx="11012424" cy="1134509"/>
          </a:xfrm>
          <a:custGeom>
            <a:avLst/>
            <a:gdLst/>
            <a:ahLst/>
            <a:cxnLst/>
            <a:rect r="r" b="b" t="t" l="l"/>
            <a:pathLst>
              <a:path h="1134509" w="11012424">
                <a:moveTo>
                  <a:pt x="0" y="0"/>
                </a:moveTo>
                <a:lnTo>
                  <a:pt x="11012424" y="0"/>
                </a:lnTo>
                <a:lnTo>
                  <a:pt x="11012424" y="1134508"/>
                </a:lnTo>
                <a:lnTo>
                  <a:pt x="0" y="1134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-23692" t="-270811" r="-23692" b="-25937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64188" y="290925"/>
            <a:ext cx="1393117" cy="1475550"/>
          </a:xfrm>
          <a:custGeom>
            <a:avLst/>
            <a:gdLst/>
            <a:ahLst/>
            <a:cxnLst/>
            <a:rect r="r" b="b" t="t" l="l"/>
            <a:pathLst>
              <a:path h="1475550" w="1393117">
                <a:moveTo>
                  <a:pt x="0" y="0"/>
                </a:moveTo>
                <a:lnTo>
                  <a:pt x="1393116" y="0"/>
                </a:lnTo>
                <a:lnTo>
                  <a:pt x="1393116" y="1475550"/>
                </a:lnTo>
                <a:lnTo>
                  <a:pt x="0" y="14755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637788" y="2041514"/>
            <a:ext cx="11012424" cy="1134509"/>
            <a:chOff x="0" y="0"/>
            <a:chExt cx="14683232" cy="15126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83232" cy="1512678"/>
            </a:xfrm>
            <a:custGeom>
              <a:avLst/>
              <a:gdLst/>
              <a:ahLst/>
              <a:cxnLst/>
              <a:rect r="r" b="b" t="t" l="l"/>
              <a:pathLst>
                <a:path h="1512678" w="14683232">
                  <a:moveTo>
                    <a:pt x="0" y="0"/>
                  </a:moveTo>
                  <a:lnTo>
                    <a:pt x="14683232" y="0"/>
                  </a:lnTo>
                  <a:lnTo>
                    <a:pt x="14683232" y="1512678"/>
                  </a:lnTo>
                  <a:lnTo>
                    <a:pt x="0" y="1512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70000"/>
              </a:blip>
              <a:stretch>
                <a:fillRect l="-32770" t="-270811" r="-14613" b="-25937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152983"/>
              <a:ext cx="14683232" cy="1206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198"/>
                </a:lnSpc>
                <a:spcBef>
                  <a:spcPct val="0"/>
                </a:spcBef>
              </a:pPr>
              <a:r>
                <a:rPr lang="en-US" b="true" sz="6000">
                  <a:solidFill>
                    <a:srgbClr val="404040"/>
                  </a:solidFill>
                  <a:latin typeface="Rajdhani Bold"/>
                  <a:ea typeface="Rajdhani Bold"/>
                  <a:cs typeface="Rajdhani Bold"/>
                  <a:sym typeface="Rajdhani Bold"/>
                </a:rPr>
                <a:t>IPAK...NAŠI LJUDI SU NAŠ BREND!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027676" y="8972550"/>
            <a:ext cx="823264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Trenutni broj zaposleni</a:t>
            </a:r>
            <a:r>
              <a:rPr lang="en-US" sz="30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h: 230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77644" y="5143500"/>
            <a:ext cx="3960495" cy="4114800"/>
          </a:xfrm>
          <a:custGeom>
            <a:avLst/>
            <a:gdLst/>
            <a:ahLst/>
            <a:cxnLst/>
            <a:rect r="r" b="b" t="t" l="l"/>
            <a:pathLst>
              <a:path h="4114800" w="3960495">
                <a:moveTo>
                  <a:pt x="0" y="0"/>
                </a:moveTo>
                <a:lnTo>
                  <a:pt x="3960496" y="0"/>
                </a:lnTo>
                <a:lnTo>
                  <a:pt x="39604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07441" y="931545"/>
            <a:ext cx="14150451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003A53"/>
                </a:solidFill>
                <a:latin typeface="Rajdhani Bold"/>
                <a:ea typeface="Rajdhani Bold"/>
                <a:cs typeface="Rajdhani Bold"/>
                <a:sym typeface="Rajdhani Bold"/>
              </a:rPr>
              <a:t>NAŠA FILOZOFIJA, CILJ, MISIJA, VRIJEDNOSTI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07441" y="3283077"/>
            <a:ext cx="11509248" cy="585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Cijenimo svaki min</a:t>
            </a:r>
            <a:r>
              <a:rPr lang="en-US" sz="24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ut vremena naših klijenata, stoga im obezbjeđujemo potrebna sredstva za kratko vrijeme, bez komplikovanih procedura.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Nudeći inovativne finansijske usluge, cilj nam je obezbijediti finansijsku stabilnost svakom klijentu.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Vjerujemo da svako zaslužuje da dobije novac koji mu je potreban, stoga obezbjeđujemo dostupnost različitih proizvoda prilagođenih socijalnom statusu kljenta.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Vrijednosti koje njegujemo: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Potpuna posvećenost klijentima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Fleksibilnost i individualan pristup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Međusobno povjerenje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Transparentnost u radu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464188" y="290925"/>
            <a:ext cx="1393117" cy="1475550"/>
          </a:xfrm>
          <a:custGeom>
            <a:avLst/>
            <a:gdLst/>
            <a:ahLst/>
            <a:cxnLst/>
            <a:rect r="r" b="b" t="t" l="l"/>
            <a:pathLst>
              <a:path h="1475550" w="1393117">
                <a:moveTo>
                  <a:pt x="0" y="0"/>
                </a:moveTo>
                <a:lnTo>
                  <a:pt x="1393116" y="0"/>
                </a:lnTo>
                <a:lnTo>
                  <a:pt x="1393116" y="1475550"/>
                </a:lnTo>
                <a:lnTo>
                  <a:pt x="0" y="14755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482" y="502591"/>
            <a:ext cx="8715372" cy="9784409"/>
            <a:chOff x="0" y="0"/>
            <a:chExt cx="10103303" cy="11342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03358" cy="11342624"/>
            </a:xfrm>
            <a:custGeom>
              <a:avLst/>
              <a:gdLst/>
              <a:ahLst/>
              <a:cxnLst/>
              <a:rect r="r" b="b" t="t" l="l"/>
              <a:pathLst>
                <a:path h="11342624" w="10103358">
                  <a:moveTo>
                    <a:pt x="0" y="0"/>
                  </a:moveTo>
                  <a:lnTo>
                    <a:pt x="10103358" y="0"/>
                  </a:lnTo>
                  <a:lnTo>
                    <a:pt x="10103358" y="11342624"/>
                  </a:lnTo>
                  <a:lnTo>
                    <a:pt x="0" y="11342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98322" y="8425448"/>
            <a:ext cx="5691797" cy="859029"/>
            <a:chOff x="0" y="0"/>
            <a:chExt cx="6598221" cy="9958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98158" cy="995807"/>
            </a:xfrm>
            <a:custGeom>
              <a:avLst/>
              <a:gdLst/>
              <a:ahLst/>
              <a:cxnLst/>
              <a:rect r="r" b="b" t="t" l="l"/>
              <a:pathLst>
                <a:path h="995807" w="6598158">
                  <a:moveTo>
                    <a:pt x="0" y="0"/>
                  </a:moveTo>
                  <a:lnTo>
                    <a:pt x="6598158" y="0"/>
                  </a:lnTo>
                  <a:lnTo>
                    <a:pt x="6598158" y="995807"/>
                  </a:lnTo>
                  <a:lnTo>
                    <a:pt x="0" y="995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3" r="0" b="-3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98322" y="7518949"/>
            <a:ext cx="5342166" cy="725282"/>
            <a:chOff x="0" y="0"/>
            <a:chExt cx="7529414" cy="1022235"/>
          </a:xfrm>
        </p:grpSpPr>
        <p:sp>
          <p:nvSpPr>
            <p:cNvPr name="Freeform 7" id="7"/>
            <p:cNvSpPr/>
            <p:nvPr/>
          </p:nvSpPr>
          <p:spPr>
            <a:xfrm flipH="false" flipV="false" rot="-6000">
              <a:off x="-886" y="-6570"/>
              <a:ext cx="7531180" cy="1035363"/>
            </a:xfrm>
            <a:custGeom>
              <a:avLst/>
              <a:gdLst/>
              <a:ahLst/>
              <a:cxnLst/>
              <a:rect r="r" b="b" t="t" l="l"/>
              <a:pathLst>
                <a:path h="1035363" w="7531180">
                  <a:moveTo>
                    <a:pt x="1784" y="0"/>
                  </a:moveTo>
                  <a:lnTo>
                    <a:pt x="7531179" y="13141"/>
                  </a:lnTo>
                  <a:lnTo>
                    <a:pt x="7529395" y="1035363"/>
                  </a:lnTo>
                  <a:lnTo>
                    <a:pt x="0" y="1022222"/>
                  </a:lnTo>
                  <a:lnTo>
                    <a:pt x="1784" y="0"/>
                  </a:lnTo>
                  <a:close/>
                </a:path>
              </a:pathLst>
            </a:custGeom>
            <a:blipFill>
              <a:blip r:embed="rId4"/>
              <a:stretch>
                <a:fillRect l="0" t="-4273" r="-8950" b="-1541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69702" y="6552743"/>
            <a:ext cx="5827946" cy="880481"/>
            <a:chOff x="0" y="0"/>
            <a:chExt cx="6756052" cy="10206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56019" cy="1020699"/>
            </a:xfrm>
            <a:custGeom>
              <a:avLst/>
              <a:gdLst/>
              <a:ahLst/>
              <a:cxnLst/>
              <a:rect r="r" b="b" t="t" l="l"/>
              <a:pathLst>
                <a:path h="1020699" w="6756019">
                  <a:moveTo>
                    <a:pt x="0" y="0"/>
                  </a:moveTo>
                  <a:lnTo>
                    <a:pt x="6756019" y="0"/>
                  </a:lnTo>
                  <a:lnTo>
                    <a:pt x="6756019" y="1020699"/>
                  </a:lnTo>
                  <a:lnTo>
                    <a:pt x="0" y="1020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" t="0" r="-1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469702" y="5618148"/>
            <a:ext cx="5606011" cy="846952"/>
            <a:chOff x="0" y="0"/>
            <a:chExt cx="6498773" cy="9818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98717" cy="981837"/>
            </a:xfrm>
            <a:custGeom>
              <a:avLst/>
              <a:gdLst/>
              <a:ahLst/>
              <a:cxnLst/>
              <a:rect r="r" b="b" t="t" l="l"/>
              <a:pathLst>
                <a:path h="981837" w="6498717">
                  <a:moveTo>
                    <a:pt x="0" y="0"/>
                  </a:moveTo>
                  <a:lnTo>
                    <a:pt x="6498717" y="0"/>
                  </a:lnTo>
                  <a:lnTo>
                    <a:pt x="6498717" y="981837"/>
                  </a:lnTo>
                  <a:lnTo>
                    <a:pt x="0" y="981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" t="0" r="-18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454935" y="4651716"/>
            <a:ext cx="5842713" cy="882713"/>
            <a:chOff x="0" y="0"/>
            <a:chExt cx="6773171" cy="10232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73164" cy="1023239"/>
            </a:xfrm>
            <a:custGeom>
              <a:avLst/>
              <a:gdLst/>
              <a:ahLst/>
              <a:cxnLst/>
              <a:rect r="r" b="b" t="t" l="l"/>
              <a:pathLst>
                <a:path h="1023239" w="6773164">
                  <a:moveTo>
                    <a:pt x="0" y="0"/>
                  </a:moveTo>
                  <a:lnTo>
                    <a:pt x="6773164" y="0"/>
                  </a:lnTo>
                  <a:lnTo>
                    <a:pt x="6773164" y="1023239"/>
                  </a:lnTo>
                  <a:lnTo>
                    <a:pt x="0" y="1023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7" t="0" r="-17" b="-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454935" y="2853930"/>
            <a:ext cx="5735185" cy="866466"/>
            <a:chOff x="0" y="0"/>
            <a:chExt cx="6648519" cy="10044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48577" cy="1004443"/>
            </a:xfrm>
            <a:custGeom>
              <a:avLst/>
              <a:gdLst/>
              <a:ahLst/>
              <a:cxnLst/>
              <a:rect r="r" b="b" t="t" l="l"/>
              <a:pathLst>
                <a:path h="1004443" w="6648577">
                  <a:moveTo>
                    <a:pt x="0" y="0"/>
                  </a:moveTo>
                  <a:lnTo>
                    <a:pt x="6648577" y="0"/>
                  </a:lnTo>
                  <a:lnTo>
                    <a:pt x="6648577" y="1004443"/>
                  </a:lnTo>
                  <a:lnTo>
                    <a:pt x="0" y="1004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7" t="0" r="-16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454935" y="3720396"/>
            <a:ext cx="5886101" cy="889267"/>
            <a:chOff x="0" y="0"/>
            <a:chExt cx="6823468" cy="10308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3456" cy="1030859"/>
            </a:xfrm>
            <a:custGeom>
              <a:avLst/>
              <a:gdLst/>
              <a:ahLst/>
              <a:cxnLst/>
              <a:rect r="r" b="b" t="t" l="l"/>
              <a:pathLst>
                <a:path h="1030859" w="6823456">
                  <a:moveTo>
                    <a:pt x="0" y="0"/>
                  </a:moveTo>
                  <a:lnTo>
                    <a:pt x="6823456" y="0"/>
                  </a:lnTo>
                  <a:lnTo>
                    <a:pt x="6823456" y="1030859"/>
                  </a:lnTo>
                  <a:lnTo>
                    <a:pt x="0" y="1030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7" t="0" r="-17" b="-2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6464188" y="290925"/>
            <a:ext cx="1393117" cy="1475550"/>
          </a:xfrm>
          <a:custGeom>
            <a:avLst/>
            <a:gdLst/>
            <a:ahLst/>
            <a:cxnLst/>
            <a:rect r="r" b="b" t="t" l="l"/>
            <a:pathLst>
              <a:path h="1475550" w="1393117">
                <a:moveTo>
                  <a:pt x="0" y="0"/>
                </a:moveTo>
                <a:lnTo>
                  <a:pt x="1393116" y="0"/>
                </a:lnTo>
                <a:lnTo>
                  <a:pt x="1393116" y="1475550"/>
                </a:lnTo>
                <a:lnTo>
                  <a:pt x="0" y="14755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1283216" y="3009813"/>
            <a:ext cx="4792496" cy="6038235"/>
            <a:chOff x="0" y="0"/>
            <a:chExt cx="1262221" cy="159031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2221" cy="1590317"/>
            </a:xfrm>
            <a:custGeom>
              <a:avLst/>
              <a:gdLst/>
              <a:ahLst/>
              <a:cxnLst/>
              <a:rect r="r" b="b" t="t" l="l"/>
              <a:pathLst>
                <a:path h="1590317" w="1262221">
                  <a:moveTo>
                    <a:pt x="0" y="0"/>
                  </a:moveTo>
                  <a:lnTo>
                    <a:pt x="1262221" y="0"/>
                  </a:lnTo>
                  <a:lnTo>
                    <a:pt x="1262221" y="1590317"/>
                  </a:lnTo>
                  <a:lnTo>
                    <a:pt x="0" y="1590317"/>
                  </a:lnTo>
                  <a:close/>
                </a:path>
              </a:pathLst>
            </a:custGeom>
            <a:solidFill>
              <a:srgbClr val="F7F4F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1262221" cy="1561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2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749008" y="1427568"/>
            <a:ext cx="4266964" cy="134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7"/>
              </a:lnSpc>
            </a:pPr>
            <a:r>
              <a:rPr lang="en-US" sz="4830" b="true">
                <a:solidFill>
                  <a:srgbClr val="003A53"/>
                </a:solidFill>
                <a:latin typeface="Rajdhani Bold"/>
                <a:ea typeface="Rajdhani Bold"/>
                <a:cs typeface="Rajdhani Bold"/>
                <a:sym typeface="Rajdhani Bold"/>
              </a:rPr>
              <a:t>Prodajna mreža</a:t>
            </a:r>
          </a:p>
          <a:p>
            <a:pPr algn="l">
              <a:lnSpc>
                <a:spcPts val="5217"/>
              </a:lnSpc>
            </a:pPr>
            <a:r>
              <a:rPr lang="en-US" sz="4830" b="true">
                <a:solidFill>
                  <a:srgbClr val="003A53"/>
                </a:solidFill>
                <a:latin typeface="Rajdhani Bold"/>
                <a:ea typeface="Rajdhani Bold"/>
                <a:cs typeface="Rajdhani Bold"/>
                <a:sym typeface="Rajdhani Bold"/>
              </a:rPr>
              <a:t> 2026. godine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83216" y="7716172"/>
            <a:ext cx="369101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Area Sarajevo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06329" y="8656526"/>
            <a:ext cx="373275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Area Trebinje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364584" y="6712499"/>
            <a:ext cx="360964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Area Bijeljina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64584" y="5746293"/>
            <a:ext cx="373275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Area Brčko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56149" y="4894635"/>
            <a:ext cx="351807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Area Doboj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303028" y="3930991"/>
            <a:ext cx="348898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Area Prijedor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06329" y="3088726"/>
            <a:ext cx="373275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3A5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Area Banja Luka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84551"/>
            <a:ext cx="14744726" cy="6713880"/>
            <a:chOff x="0" y="0"/>
            <a:chExt cx="19659635" cy="895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32083" cy="8898332"/>
            </a:xfrm>
            <a:custGeom>
              <a:avLst/>
              <a:gdLst/>
              <a:ahLst/>
              <a:cxnLst/>
              <a:rect r="r" b="b" t="t" l="l"/>
              <a:pathLst>
                <a:path h="8898332" w="3232083">
                  <a:moveTo>
                    <a:pt x="0" y="0"/>
                  </a:moveTo>
                  <a:lnTo>
                    <a:pt x="3232083" y="0"/>
                  </a:lnTo>
                  <a:lnTo>
                    <a:pt x="3232083" y="8898332"/>
                  </a:lnTo>
                  <a:lnTo>
                    <a:pt x="0" y="8898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284381" y="0"/>
              <a:ext cx="3232083" cy="8898332"/>
            </a:xfrm>
            <a:custGeom>
              <a:avLst/>
              <a:gdLst/>
              <a:ahLst/>
              <a:cxnLst/>
              <a:rect r="r" b="b" t="t" l="l"/>
              <a:pathLst>
                <a:path h="8898332" w="3232083">
                  <a:moveTo>
                    <a:pt x="0" y="0"/>
                  </a:moveTo>
                  <a:lnTo>
                    <a:pt x="3232083" y="0"/>
                  </a:lnTo>
                  <a:lnTo>
                    <a:pt x="3232083" y="8898332"/>
                  </a:lnTo>
                  <a:lnTo>
                    <a:pt x="0" y="8898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3426135" y="553022"/>
              <a:ext cx="2948727" cy="2948727"/>
              <a:chOff x="0" y="0"/>
              <a:chExt cx="2585085" cy="258508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585085" cy="2585085"/>
              </a:xfrm>
              <a:custGeom>
                <a:avLst/>
                <a:gdLst/>
                <a:ahLst/>
                <a:cxnLst/>
                <a:rect r="r" b="b" t="t" l="l"/>
                <a:pathLst>
                  <a:path h="2585085" w="2585085">
                    <a:moveTo>
                      <a:pt x="0" y="1292479"/>
                    </a:moveTo>
                    <a:cubicBezTo>
                      <a:pt x="0" y="578739"/>
                      <a:pt x="578739" y="0"/>
                      <a:pt x="1292479" y="0"/>
                    </a:cubicBezTo>
                    <a:cubicBezTo>
                      <a:pt x="2006219" y="0"/>
                      <a:pt x="2585085" y="578739"/>
                      <a:pt x="2585085" y="1292479"/>
                    </a:cubicBezTo>
                    <a:cubicBezTo>
                      <a:pt x="2585085" y="2006219"/>
                      <a:pt x="2006346" y="2585085"/>
                      <a:pt x="1292479" y="2585085"/>
                    </a:cubicBezTo>
                    <a:cubicBezTo>
                      <a:pt x="578612" y="2585085"/>
                      <a:pt x="0" y="2006346"/>
                      <a:pt x="0" y="1292479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18281" t="0" r="-18281" b="0"/>
                </a:stretch>
              </a:blipFill>
            </p:spPr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3404405" y="531292"/>
              <a:ext cx="2992042" cy="2992187"/>
            </a:xfrm>
            <a:custGeom>
              <a:avLst/>
              <a:gdLst/>
              <a:ahLst/>
              <a:cxnLst/>
              <a:rect r="r" b="b" t="t" l="l"/>
              <a:pathLst>
                <a:path h="2992187" w="2992042">
                  <a:moveTo>
                    <a:pt x="0" y="0"/>
                  </a:moveTo>
                  <a:lnTo>
                    <a:pt x="2992042" y="0"/>
                  </a:lnTo>
                  <a:lnTo>
                    <a:pt x="2992042" y="2992187"/>
                  </a:lnTo>
                  <a:lnTo>
                    <a:pt x="0" y="2992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568760" y="0"/>
              <a:ext cx="3232083" cy="8898332"/>
            </a:xfrm>
            <a:custGeom>
              <a:avLst/>
              <a:gdLst/>
              <a:ahLst/>
              <a:cxnLst/>
              <a:rect r="r" b="b" t="t" l="l"/>
              <a:pathLst>
                <a:path h="8898332" w="3232083">
                  <a:moveTo>
                    <a:pt x="0" y="0"/>
                  </a:moveTo>
                  <a:lnTo>
                    <a:pt x="3232084" y="0"/>
                  </a:lnTo>
                  <a:lnTo>
                    <a:pt x="3232084" y="8898332"/>
                  </a:lnTo>
                  <a:lnTo>
                    <a:pt x="0" y="8898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853143" y="0"/>
              <a:ext cx="3232083" cy="8898332"/>
            </a:xfrm>
            <a:custGeom>
              <a:avLst/>
              <a:gdLst/>
              <a:ahLst/>
              <a:cxnLst/>
              <a:rect r="r" b="b" t="t" l="l"/>
              <a:pathLst>
                <a:path h="8898332" w="3232083">
                  <a:moveTo>
                    <a:pt x="0" y="0"/>
                  </a:moveTo>
                  <a:lnTo>
                    <a:pt x="3232083" y="0"/>
                  </a:lnTo>
                  <a:lnTo>
                    <a:pt x="3232083" y="8898332"/>
                  </a:lnTo>
                  <a:lnTo>
                    <a:pt x="0" y="8898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9994894" y="553022"/>
              <a:ext cx="2948727" cy="2948727"/>
              <a:chOff x="0" y="0"/>
              <a:chExt cx="2585085" cy="258508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585085" cy="2585085"/>
              </a:xfrm>
              <a:custGeom>
                <a:avLst/>
                <a:gdLst/>
                <a:ahLst/>
                <a:cxnLst/>
                <a:rect r="r" b="b" t="t" l="l"/>
                <a:pathLst>
                  <a:path h="2585085" w="2585085">
                    <a:moveTo>
                      <a:pt x="0" y="1292479"/>
                    </a:moveTo>
                    <a:cubicBezTo>
                      <a:pt x="0" y="578739"/>
                      <a:pt x="578739" y="0"/>
                      <a:pt x="1292479" y="0"/>
                    </a:cubicBezTo>
                    <a:cubicBezTo>
                      <a:pt x="2006219" y="0"/>
                      <a:pt x="2585085" y="578739"/>
                      <a:pt x="2585085" y="1292479"/>
                    </a:cubicBezTo>
                    <a:cubicBezTo>
                      <a:pt x="2585085" y="2006219"/>
                      <a:pt x="2006346" y="2585085"/>
                      <a:pt x="1292479" y="2585085"/>
                    </a:cubicBezTo>
                    <a:cubicBezTo>
                      <a:pt x="578612" y="2585085"/>
                      <a:pt x="0" y="2006346"/>
                      <a:pt x="0" y="1292479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18829" t="0" r="-18829" b="0"/>
                </a:stretch>
              </a:blipFill>
            </p:spPr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9973164" y="531292"/>
              <a:ext cx="2992042" cy="2992187"/>
            </a:xfrm>
            <a:custGeom>
              <a:avLst/>
              <a:gdLst/>
              <a:ahLst/>
              <a:cxnLst/>
              <a:rect r="r" b="b" t="t" l="l"/>
              <a:pathLst>
                <a:path h="2992187" w="2992042">
                  <a:moveTo>
                    <a:pt x="0" y="0"/>
                  </a:moveTo>
                  <a:lnTo>
                    <a:pt x="2992042" y="0"/>
                  </a:lnTo>
                  <a:lnTo>
                    <a:pt x="2992042" y="2992187"/>
                  </a:lnTo>
                  <a:lnTo>
                    <a:pt x="0" y="2992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3137522" y="0"/>
              <a:ext cx="3232083" cy="8898332"/>
            </a:xfrm>
            <a:custGeom>
              <a:avLst/>
              <a:gdLst/>
              <a:ahLst/>
              <a:cxnLst/>
              <a:rect r="r" b="b" t="t" l="l"/>
              <a:pathLst>
                <a:path h="8898332" w="3232083">
                  <a:moveTo>
                    <a:pt x="0" y="0"/>
                  </a:moveTo>
                  <a:lnTo>
                    <a:pt x="3232084" y="0"/>
                  </a:lnTo>
                  <a:lnTo>
                    <a:pt x="3232084" y="8898332"/>
                  </a:lnTo>
                  <a:lnTo>
                    <a:pt x="0" y="8898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6427552" y="53508"/>
              <a:ext cx="3232083" cy="8898332"/>
            </a:xfrm>
            <a:custGeom>
              <a:avLst/>
              <a:gdLst/>
              <a:ahLst/>
              <a:cxnLst/>
              <a:rect r="r" b="b" t="t" l="l"/>
              <a:pathLst>
                <a:path h="8898332" w="3232083">
                  <a:moveTo>
                    <a:pt x="0" y="0"/>
                  </a:moveTo>
                  <a:lnTo>
                    <a:pt x="3232083" y="0"/>
                  </a:lnTo>
                  <a:lnTo>
                    <a:pt x="3232083" y="8898332"/>
                  </a:lnTo>
                  <a:lnTo>
                    <a:pt x="0" y="8898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5" id="15"/>
            <p:cNvGrpSpPr/>
            <p:nvPr/>
          </p:nvGrpSpPr>
          <p:grpSpPr>
            <a:xfrm rot="0">
              <a:off x="88711" y="553022"/>
              <a:ext cx="2948727" cy="2948727"/>
              <a:chOff x="0" y="0"/>
              <a:chExt cx="2585085" cy="258508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585085" cy="2585085"/>
              </a:xfrm>
              <a:custGeom>
                <a:avLst/>
                <a:gdLst/>
                <a:ahLst/>
                <a:cxnLst/>
                <a:rect r="r" b="b" t="t" l="l"/>
                <a:pathLst>
                  <a:path h="2585085" w="2585085">
                    <a:moveTo>
                      <a:pt x="0" y="1292479"/>
                    </a:moveTo>
                    <a:cubicBezTo>
                      <a:pt x="0" y="578739"/>
                      <a:pt x="578739" y="0"/>
                      <a:pt x="1292479" y="0"/>
                    </a:cubicBezTo>
                    <a:cubicBezTo>
                      <a:pt x="2006219" y="0"/>
                      <a:pt x="2585085" y="578739"/>
                      <a:pt x="2585085" y="1292479"/>
                    </a:cubicBezTo>
                    <a:cubicBezTo>
                      <a:pt x="2585085" y="2006219"/>
                      <a:pt x="2006346" y="2585085"/>
                      <a:pt x="1292479" y="2585085"/>
                    </a:cubicBezTo>
                    <a:cubicBezTo>
                      <a:pt x="578612" y="2585085"/>
                      <a:pt x="0" y="2006346"/>
                      <a:pt x="0" y="1292479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-75901" t="0" r="-75901" b="0"/>
                </a:stretch>
              </a:blipFill>
            </p:spPr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66982" y="531292"/>
              <a:ext cx="2992042" cy="2992187"/>
            </a:xfrm>
            <a:custGeom>
              <a:avLst/>
              <a:gdLst/>
              <a:ahLst/>
              <a:cxnLst/>
              <a:rect r="r" b="b" t="t" l="l"/>
              <a:pathLst>
                <a:path h="2992187" w="2992042">
                  <a:moveTo>
                    <a:pt x="0" y="0"/>
                  </a:moveTo>
                  <a:lnTo>
                    <a:pt x="2992041" y="0"/>
                  </a:lnTo>
                  <a:lnTo>
                    <a:pt x="2992041" y="2992187"/>
                  </a:lnTo>
                  <a:lnTo>
                    <a:pt x="0" y="2992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784206" y="7082157"/>
              <a:ext cx="18085817" cy="1375204"/>
            </a:xfrm>
            <a:custGeom>
              <a:avLst/>
              <a:gdLst/>
              <a:ahLst/>
              <a:cxnLst/>
              <a:rect r="r" b="b" t="t" l="l"/>
              <a:pathLst>
                <a:path h="1375204" w="18085817">
                  <a:moveTo>
                    <a:pt x="0" y="0"/>
                  </a:moveTo>
                  <a:lnTo>
                    <a:pt x="18085817" y="0"/>
                  </a:lnTo>
                  <a:lnTo>
                    <a:pt x="18085817" y="1375205"/>
                  </a:lnTo>
                  <a:lnTo>
                    <a:pt x="0" y="1375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20023" y="4648461"/>
              <a:ext cx="2886047" cy="9644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9"/>
                </a:lnSpc>
              </a:pPr>
              <a:r>
                <a:rPr lang="en-US" sz="2619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Geografsko širenje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335037" y="4506714"/>
              <a:ext cx="2886047" cy="14588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3"/>
                </a:lnSpc>
              </a:pPr>
              <a:r>
                <a:rPr lang="en-US" sz="2623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Razvoj prodajnih kanala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773195" y="4531249"/>
              <a:ext cx="2886047" cy="1434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9"/>
                </a:lnSpc>
              </a:pPr>
              <a:r>
                <a:rPr lang="en-US" sz="2619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Razvoj proizvoda i brendova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994894" y="4477741"/>
              <a:ext cx="2886047" cy="19042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9"/>
                </a:lnSpc>
              </a:pPr>
              <a:r>
                <a:rPr lang="en-US" sz="2619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Jaka marketinška podrška prodaji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6600570" y="4506714"/>
              <a:ext cx="2886047" cy="1434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9"/>
                </a:lnSpc>
              </a:pPr>
              <a:r>
                <a:rPr lang="en-US" sz="2619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Sveobuhvatno upravljanje učinkom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3310540" y="4477741"/>
              <a:ext cx="2886047" cy="1434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9"/>
                </a:lnSpc>
              </a:pPr>
              <a:r>
                <a:rPr lang="en-US" sz="2619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Optimizacija i unapređenje procesa rada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401022" y="3103533"/>
            <a:ext cx="2211545" cy="2211545"/>
            <a:chOff x="0" y="0"/>
            <a:chExt cx="2585085" cy="258508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85085" cy="2585085"/>
            </a:xfrm>
            <a:custGeom>
              <a:avLst/>
              <a:gdLst/>
              <a:ahLst/>
              <a:cxnLst/>
              <a:rect r="r" b="b" t="t" l="l"/>
              <a:pathLst>
                <a:path h="2585085" w="2585085">
                  <a:moveTo>
                    <a:pt x="0" y="1292479"/>
                  </a:moveTo>
                  <a:cubicBezTo>
                    <a:pt x="0" y="578739"/>
                    <a:pt x="578739" y="0"/>
                    <a:pt x="1292479" y="0"/>
                  </a:cubicBezTo>
                  <a:cubicBezTo>
                    <a:pt x="2006219" y="0"/>
                    <a:pt x="2585085" y="578739"/>
                    <a:pt x="2585085" y="1292479"/>
                  </a:cubicBezTo>
                  <a:cubicBezTo>
                    <a:pt x="2585085" y="2006219"/>
                    <a:pt x="2006346" y="2585085"/>
                    <a:pt x="1292479" y="2585085"/>
                  </a:cubicBezTo>
                  <a:cubicBezTo>
                    <a:pt x="578612" y="2585085"/>
                    <a:pt x="0" y="2006346"/>
                    <a:pt x="0" y="1292479"/>
                  </a:cubicBezTo>
                  <a:close/>
                </a:path>
              </a:pathLst>
            </a:custGeom>
            <a:blipFill>
              <a:blip r:embed="rId11"/>
              <a:stretch>
                <a:fillRect l="-33681" t="0" r="-92947" b="0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16464188" y="290925"/>
            <a:ext cx="1393117" cy="1475550"/>
          </a:xfrm>
          <a:custGeom>
            <a:avLst/>
            <a:gdLst/>
            <a:ahLst/>
            <a:cxnLst/>
            <a:rect r="r" b="b" t="t" l="l"/>
            <a:pathLst>
              <a:path h="1475550" w="1393117">
                <a:moveTo>
                  <a:pt x="0" y="0"/>
                </a:moveTo>
                <a:lnTo>
                  <a:pt x="1393116" y="0"/>
                </a:lnTo>
                <a:lnTo>
                  <a:pt x="1393116" y="1475550"/>
                </a:lnTo>
                <a:lnTo>
                  <a:pt x="0" y="14755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1031316" y="3103533"/>
            <a:ext cx="2211545" cy="2211545"/>
            <a:chOff x="0" y="0"/>
            <a:chExt cx="2585085" cy="258508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85085" cy="2585085"/>
            </a:xfrm>
            <a:custGeom>
              <a:avLst/>
              <a:gdLst/>
              <a:ahLst/>
              <a:cxnLst/>
              <a:rect r="r" b="b" t="t" l="l"/>
              <a:pathLst>
                <a:path h="2585085" w="2585085">
                  <a:moveTo>
                    <a:pt x="0" y="1292479"/>
                  </a:moveTo>
                  <a:cubicBezTo>
                    <a:pt x="0" y="578739"/>
                    <a:pt x="578739" y="0"/>
                    <a:pt x="1292479" y="0"/>
                  </a:cubicBezTo>
                  <a:cubicBezTo>
                    <a:pt x="2006219" y="0"/>
                    <a:pt x="2585085" y="578739"/>
                    <a:pt x="2585085" y="1292479"/>
                  </a:cubicBezTo>
                  <a:cubicBezTo>
                    <a:pt x="2585085" y="2006219"/>
                    <a:pt x="2006346" y="2585085"/>
                    <a:pt x="1292479" y="2585085"/>
                  </a:cubicBezTo>
                  <a:cubicBezTo>
                    <a:pt x="578612" y="2585085"/>
                    <a:pt x="0" y="2006346"/>
                    <a:pt x="0" y="1292479"/>
                  </a:cubicBezTo>
                  <a:close/>
                </a:path>
              </a:pathLst>
            </a:custGeom>
            <a:blipFill>
              <a:blip r:embed="rId13"/>
              <a:stretch>
                <a:fillRect l="-24906" t="0" r="-24906" b="0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059763" y="3103533"/>
            <a:ext cx="2211545" cy="2211545"/>
            <a:chOff x="0" y="0"/>
            <a:chExt cx="2585085" cy="258508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85085" cy="2585085"/>
            </a:xfrm>
            <a:custGeom>
              <a:avLst/>
              <a:gdLst/>
              <a:ahLst/>
              <a:cxnLst/>
              <a:rect r="r" b="b" t="t" l="l"/>
              <a:pathLst>
                <a:path h="2585085" w="2585085">
                  <a:moveTo>
                    <a:pt x="0" y="1292479"/>
                  </a:moveTo>
                  <a:cubicBezTo>
                    <a:pt x="0" y="578739"/>
                    <a:pt x="578739" y="0"/>
                    <a:pt x="1292479" y="0"/>
                  </a:cubicBezTo>
                  <a:cubicBezTo>
                    <a:pt x="2006219" y="0"/>
                    <a:pt x="2585085" y="578739"/>
                    <a:pt x="2585085" y="1292479"/>
                  </a:cubicBezTo>
                  <a:cubicBezTo>
                    <a:pt x="2585085" y="2006219"/>
                    <a:pt x="2006346" y="2585085"/>
                    <a:pt x="1292479" y="2585085"/>
                  </a:cubicBezTo>
                  <a:cubicBezTo>
                    <a:pt x="578612" y="2585085"/>
                    <a:pt x="0" y="2006346"/>
                    <a:pt x="0" y="1292479"/>
                  </a:cubicBezTo>
                  <a:close/>
                </a:path>
              </a:pathLst>
            </a:custGeom>
            <a:blipFill>
              <a:blip r:embed="rId14"/>
              <a:stretch>
                <a:fillRect l="-25046" t="0" r="-25046" b="0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107441" y="931545"/>
            <a:ext cx="14150451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003A53"/>
                </a:solidFill>
                <a:latin typeface="Rajdhani Bold"/>
                <a:ea typeface="Rajdhani Bold"/>
                <a:cs typeface="Rajdhani Bold"/>
                <a:sym typeface="Rajdhani Bold"/>
              </a:rPr>
              <a:t>CILJEVI ZA 2026. GODINU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64188" y="290925"/>
            <a:ext cx="1393117" cy="1475550"/>
          </a:xfrm>
          <a:custGeom>
            <a:avLst/>
            <a:gdLst/>
            <a:ahLst/>
            <a:cxnLst/>
            <a:rect r="r" b="b" t="t" l="l"/>
            <a:pathLst>
              <a:path h="1475550" w="1393117">
                <a:moveTo>
                  <a:pt x="0" y="0"/>
                </a:moveTo>
                <a:lnTo>
                  <a:pt x="1393116" y="0"/>
                </a:lnTo>
                <a:lnTo>
                  <a:pt x="1393116" y="1475550"/>
                </a:lnTo>
                <a:lnTo>
                  <a:pt x="0" y="1475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5442" y="1358656"/>
            <a:ext cx="18343442" cy="10318186"/>
          </a:xfrm>
          <a:custGeom>
            <a:avLst/>
            <a:gdLst/>
            <a:ahLst/>
            <a:cxnLst/>
            <a:rect r="r" b="b" t="t" l="l"/>
            <a:pathLst>
              <a:path h="10318186" w="18343442">
                <a:moveTo>
                  <a:pt x="0" y="0"/>
                </a:moveTo>
                <a:lnTo>
                  <a:pt x="18343442" y="0"/>
                </a:lnTo>
                <a:lnTo>
                  <a:pt x="18343442" y="10318187"/>
                </a:lnTo>
                <a:lnTo>
                  <a:pt x="0" y="103181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56825"/>
            <a:ext cx="14150451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003A53"/>
                </a:solidFill>
                <a:latin typeface="Rajdhani Bold"/>
                <a:ea typeface="Rajdhani Bold"/>
                <a:cs typeface="Rajdhani Bold"/>
                <a:sym typeface="Rajdhani Bold"/>
              </a:rPr>
              <a:t>UPOZNAJ ORGANIZACIONU STRUKTURU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64188" y="290925"/>
            <a:ext cx="1393117" cy="1475550"/>
          </a:xfrm>
          <a:custGeom>
            <a:avLst/>
            <a:gdLst/>
            <a:ahLst/>
            <a:cxnLst/>
            <a:rect r="r" b="b" t="t" l="l"/>
            <a:pathLst>
              <a:path h="1475550" w="1393117">
                <a:moveTo>
                  <a:pt x="0" y="0"/>
                </a:moveTo>
                <a:lnTo>
                  <a:pt x="1393116" y="0"/>
                </a:lnTo>
                <a:lnTo>
                  <a:pt x="1393116" y="1475550"/>
                </a:lnTo>
                <a:lnTo>
                  <a:pt x="0" y="1475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3940" y="657587"/>
            <a:ext cx="17344060" cy="9756034"/>
          </a:xfrm>
          <a:custGeom>
            <a:avLst/>
            <a:gdLst/>
            <a:ahLst/>
            <a:cxnLst/>
            <a:rect r="r" b="b" t="t" l="l"/>
            <a:pathLst>
              <a:path h="9756034" w="17344060">
                <a:moveTo>
                  <a:pt x="0" y="0"/>
                </a:moveTo>
                <a:lnTo>
                  <a:pt x="17344060" y="0"/>
                </a:lnTo>
                <a:lnTo>
                  <a:pt x="17344060" y="9756034"/>
                </a:lnTo>
                <a:lnTo>
                  <a:pt x="0" y="9756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1543" y="281400"/>
            <a:ext cx="14150451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b="true" sz="6600">
                <a:solidFill>
                  <a:srgbClr val="41200F"/>
                </a:solidFill>
                <a:latin typeface="Rajdhani Bold"/>
                <a:ea typeface="Rajdhani Bold"/>
                <a:cs typeface="Rajdhani Bold"/>
                <a:sym typeface="Rajdhani Bold"/>
              </a:rPr>
              <a:t>UPOZNAJ KOLEGE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64188" y="290925"/>
            <a:ext cx="1393117" cy="1475550"/>
          </a:xfrm>
          <a:custGeom>
            <a:avLst/>
            <a:gdLst/>
            <a:ahLst/>
            <a:cxnLst/>
            <a:rect r="r" b="b" t="t" l="l"/>
            <a:pathLst>
              <a:path h="1475550" w="1393117">
                <a:moveTo>
                  <a:pt x="0" y="0"/>
                </a:moveTo>
                <a:lnTo>
                  <a:pt x="1393116" y="0"/>
                </a:lnTo>
                <a:lnTo>
                  <a:pt x="1393116" y="1475550"/>
                </a:lnTo>
                <a:lnTo>
                  <a:pt x="0" y="1475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7261" y="1941195"/>
            <a:ext cx="2542223" cy="2542223"/>
          </a:xfrm>
          <a:custGeom>
            <a:avLst/>
            <a:gdLst/>
            <a:ahLst/>
            <a:cxnLst/>
            <a:rect r="r" b="b" t="t" l="l"/>
            <a:pathLst>
              <a:path h="2542223" w="2542223">
                <a:moveTo>
                  <a:pt x="0" y="0"/>
                </a:moveTo>
                <a:lnTo>
                  <a:pt x="2542223" y="0"/>
                </a:lnTo>
                <a:lnTo>
                  <a:pt x="2542223" y="2542223"/>
                </a:lnTo>
                <a:lnTo>
                  <a:pt x="0" y="25422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098217" y="1987975"/>
            <a:ext cx="2567798" cy="2450865"/>
            <a:chOff x="0" y="0"/>
            <a:chExt cx="3423731" cy="32678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3200" y="2650"/>
              <a:ext cx="3277219" cy="3262664"/>
            </a:xfrm>
            <a:custGeom>
              <a:avLst/>
              <a:gdLst/>
              <a:ahLst/>
              <a:cxnLst/>
              <a:rect r="r" b="b" t="t" l="l"/>
              <a:pathLst>
                <a:path h="3262664" w="3277219">
                  <a:moveTo>
                    <a:pt x="1638633" y="17"/>
                  </a:moveTo>
                  <a:cubicBezTo>
                    <a:pt x="1054179" y="-2650"/>
                    <a:pt x="512905" y="307738"/>
                    <a:pt x="219789" y="813452"/>
                  </a:cubicBezTo>
                  <a:cubicBezTo>
                    <a:pt x="-73327" y="1319166"/>
                    <a:pt x="-73200" y="1943244"/>
                    <a:pt x="219789" y="2449085"/>
                  </a:cubicBezTo>
                  <a:cubicBezTo>
                    <a:pt x="512778" y="2954926"/>
                    <a:pt x="1054052" y="3265187"/>
                    <a:pt x="1638633" y="3262647"/>
                  </a:cubicBezTo>
                  <a:cubicBezTo>
                    <a:pt x="2223214" y="3265314"/>
                    <a:pt x="2764488" y="2954926"/>
                    <a:pt x="3057477" y="2449085"/>
                  </a:cubicBezTo>
                  <a:cubicBezTo>
                    <a:pt x="3350466" y="1943244"/>
                    <a:pt x="3350466" y="1319420"/>
                    <a:pt x="3057477" y="813579"/>
                  </a:cubicBezTo>
                  <a:cubicBezTo>
                    <a:pt x="2764488" y="307738"/>
                    <a:pt x="2223214" y="-2650"/>
                    <a:pt x="1638633" y="17"/>
                  </a:cubicBezTo>
                  <a:close/>
                </a:path>
              </a:pathLst>
            </a:custGeom>
            <a:blipFill>
              <a:blip r:embed="rId5"/>
              <a:stretch>
                <a:fillRect l="-239560" t="-149795" r="-246619" b="-53526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127509" y="1943056"/>
            <a:ext cx="2538506" cy="2538501"/>
            <a:chOff x="0" y="0"/>
            <a:chExt cx="3323168" cy="33231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23209" cy="3323209"/>
            </a:xfrm>
            <a:custGeom>
              <a:avLst/>
              <a:gdLst/>
              <a:ahLst/>
              <a:cxnLst/>
              <a:rect r="r" b="b" t="t" l="l"/>
              <a:pathLst>
                <a:path h="3323209" w="3323209">
                  <a:moveTo>
                    <a:pt x="1661541" y="3323209"/>
                  </a:moveTo>
                  <a:cubicBezTo>
                    <a:pt x="745363" y="3323209"/>
                    <a:pt x="0" y="2577846"/>
                    <a:pt x="0" y="1661541"/>
                  </a:cubicBezTo>
                  <a:cubicBezTo>
                    <a:pt x="0" y="745236"/>
                    <a:pt x="745363" y="0"/>
                    <a:pt x="1661541" y="0"/>
                  </a:cubicBezTo>
                  <a:cubicBezTo>
                    <a:pt x="2577719" y="0"/>
                    <a:pt x="3323209" y="745363"/>
                    <a:pt x="3323209" y="1661541"/>
                  </a:cubicBezTo>
                  <a:cubicBezTo>
                    <a:pt x="3323209" y="2577719"/>
                    <a:pt x="2577846" y="3323209"/>
                    <a:pt x="1661541" y="3323209"/>
                  </a:cubicBezTo>
                  <a:close/>
                  <a:moveTo>
                    <a:pt x="1661541" y="60579"/>
                  </a:moveTo>
                  <a:cubicBezTo>
                    <a:pt x="778764" y="60579"/>
                    <a:pt x="60579" y="778764"/>
                    <a:pt x="60579" y="1661541"/>
                  </a:cubicBezTo>
                  <a:cubicBezTo>
                    <a:pt x="60579" y="2544318"/>
                    <a:pt x="778764" y="3262630"/>
                    <a:pt x="1661541" y="3262630"/>
                  </a:cubicBezTo>
                  <a:cubicBezTo>
                    <a:pt x="2544318" y="3262630"/>
                    <a:pt x="3262630" y="2544445"/>
                    <a:pt x="3262630" y="1661541"/>
                  </a:cubicBezTo>
                  <a:cubicBezTo>
                    <a:pt x="3262630" y="778637"/>
                    <a:pt x="2544318" y="60579"/>
                    <a:pt x="1661541" y="60579"/>
                  </a:cubicBezTo>
                  <a:close/>
                </a:path>
              </a:pathLst>
            </a:custGeom>
            <a:solidFill>
              <a:srgbClr val="003A5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116485" y="1941195"/>
            <a:ext cx="2542223" cy="2542223"/>
          </a:xfrm>
          <a:custGeom>
            <a:avLst/>
            <a:gdLst/>
            <a:ahLst/>
            <a:cxnLst/>
            <a:rect r="r" b="b" t="t" l="l"/>
            <a:pathLst>
              <a:path h="2542223" w="2542223">
                <a:moveTo>
                  <a:pt x="0" y="0"/>
                </a:moveTo>
                <a:lnTo>
                  <a:pt x="2542223" y="0"/>
                </a:lnTo>
                <a:lnTo>
                  <a:pt x="2542223" y="2542223"/>
                </a:lnTo>
                <a:lnTo>
                  <a:pt x="0" y="25422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7441" y="1968140"/>
            <a:ext cx="2567798" cy="2450865"/>
            <a:chOff x="0" y="0"/>
            <a:chExt cx="3423731" cy="32678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3200" y="2650"/>
              <a:ext cx="3277219" cy="3262664"/>
            </a:xfrm>
            <a:custGeom>
              <a:avLst/>
              <a:gdLst/>
              <a:ahLst/>
              <a:cxnLst/>
              <a:rect r="r" b="b" t="t" l="l"/>
              <a:pathLst>
                <a:path h="3262664" w="3277219">
                  <a:moveTo>
                    <a:pt x="1638633" y="17"/>
                  </a:moveTo>
                  <a:cubicBezTo>
                    <a:pt x="1054179" y="-2650"/>
                    <a:pt x="512905" y="307738"/>
                    <a:pt x="219789" y="813452"/>
                  </a:cubicBezTo>
                  <a:cubicBezTo>
                    <a:pt x="-73327" y="1319166"/>
                    <a:pt x="-73200" y="1943244"/>
                    <a:pt x="219789" y="2449085"/>
                  </a:cubicBezTo>
                  <a:cubicBezTo>
                    <a:pt x="512778" y="2954926"/>
                    <a:pt x="1054052" y="3265187"/>
                    <a:pt x="1638633" y="3262647"/>
                  </a:cubicBezTo>
                  <a:cubicBezTo>
                    <a:pt x="2223214" y="3265314"/>
                    <a:pt x="2764488" y="2954926"/>
                    <a:pt x="3057477" y="2449085"/>
                  </a:cubicBezTo>
                  <a:cubicBezTo>
                    <a:pt x="3350466" y="1943244"/>
                    <a:pt x="3350466" y="1319420"/>
                    <a:pt x="3057477" y="813579"/>
                  </a:cubicBezTo>
                  <a:cubicBezTo>
                    <a:pt x="2764488" y="307738"/>
                    <a:pt x="2223214" y="-2650"/>
                    <a:pt x="1638633" y="17"/>
                  </a:cubicBezTo>
                  <a:close/>
                </a:path>
              </a:pathLst>
            </a:custGeom>
            <a:blipFill>
              <a:blip r:embed="rId6"/>
              <a:stretch>
                <a:fillRect l="-52568" t="-8367" r="-10370" b="-5529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22672" y="1947388"/>
            <a:ext cx="2536036" cy="2536030"/>
            <a:chOff x="0" y="0"/>
            <a:chExt cx="3323168" cy="33231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23209" cy="3323209"/>
            </a:xfrm>
            <a:custGeom>
              <a:avLst/>
              <a:gdLst/>
              <a:ahLst/>
              <a:cxnLst/>
              <a:rect r="r" b="b" t="t" l="l"/>
              <a:pathLst>
                <a:path h="3323209" w="3323209">
                  <a:moveTo>
                    <a:pt x="1661541" y="3323209"/>
                  </a:moveTo>
                  <a:cubicBezTo>
                    <a:pt x="745363" y="3323209"/>
                    <a:pt x="0" y="2577846"/>
                    <a:pt x="0" y="1661541"/>
                  </a:cubicBezTo>
                  <a:cubicBezTo>
                    <a:pt x="0" y="745236"/>
                    <a:pt x="745363" y="0"/>
                    <a:pt x="1661541" y="0"/>
                  </a:cubicBezTo>
                  <a:cubicBezTo>
                    <a:pt x="2577719" y="0"/>
                    <a:pt x="3323209" y="745363"/>
                    <a:pt x="3323209" y="1661541"/>
                  </a:cubicBezTo>
                  <a:cubicBezTo>
                    <a:pt x="3323209" y="2577719"/>
                    <a:pt x="2577846" y="3323209"/>
                    <a:pt x="1661541" y="3323209"/>
                  </a:cubicBezTo>
                  <a:close/>
                  <a:moveTo>
                    <a:pt x="1661541" y="60579"/>
                  </a:moveTo>
                  <a:cubicBezTo>
                    <a:pt x="778764" y="60579"/>
                    <a:pt x="60579" y="778764"/>
                    <a:pt x="60579" y="1661541"/>
                  </a:cubicBezTo>
                  <a:cubicBezTo>
                    <a:pt x="60579" y="2544318"/>
                    <a:pt x="778764" y="3262630"/>
                    <a:pt x="1661541" y="3262630"/>
                  </a:cubicBezTo>
                  <a:cubicBezTo>
                    <a:pt x="2544318" y="3262630"/>
                    <a:pt x="3262630" y="2544445"/>
                    <a:pt x="3262630" y="1661541"/>
                  </a:cubicBezTo>
                  <a:cubicBezTo>
                    <a:pt x="3262630" y="778637"/>
                    <a:pt x="2544318" y="60579"/>
                    <a:pt x="1661541" y="60579"/>
                  </a:cubicBezTo>
                  <a:close/>
                </a:path>
              </a:pathLst>
            </a:custGeom>
            <a:solidFill>
              <a:srgbClr val="003A5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162399" y="1988910"/>
            <a:ext cx="2567798" cy="2450865"/>
            <a:chOff x="0" y="0"/>
            <a:chExt cx="3423731" cy="32678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73200" y="2650"/>
              <a:ext cx="3277219" cy="3262664"/>
            </a:xfrm>
            <a:custGeom>
              <a:avLst/>
              <a:gdLst/>
              <a:ahLst/>
              <a:cxnLst/>
              <a:rect r="r" b="b" t="t" l="l"/>
              <a:pathLst>
                <a:path h="3262664" w="3277219">
                  <a:moveTo>
                    <a:pt x="1638633" y="17"/>
                  </a:moveTo>
                  <a:cubicBezTo>
                    <a:pt x="1054179" y="-2650"/>
                    <a:pt x="512905" y="307738"/>
                    <a:pt x="219789" y="813452"/>
                  </a:cubicBezTo>
                  <a:cubicBezTo>
                    <a:pt x="-73327" y="1319166"/>
                    <a:pt x="-73200" y="1943244"/>
                    <a:pt x="219789" y="2449085"/>
                  </a:cubicBezTo>
                  <a:cubicBezTo>
                    <a:pt x="512778" y="2954926"/>
                    <a:pt x="1054052" y="3265187"/>
                    <a:pt x="1638633" y="3262647"/>
                  </a:cubicBezTo>
                  <a:cubicBezTo>
                    <a:pt x="2223214" y="3265314"/>
                    <a:pt x="2764488" y="2954926"/>
                    <a:pt x="3057477" y="2449085"/>
                  </a:cubicBezTo>
                  <a:cubicBezTo>
                    <a:pt x="3350466" y="1943244"/>
                    <a:pt x="3350466" y="1319420"/>
                    <a:pt x="3057477" y="813579"/>
                  </a:cubicBezTo>
                  <a:cubicBezTo>
                    <a:pt x="2764488" y="307738"/>
                    <a:pt x="2223214" y="-2650"/>
                    <a:pt x="1638633" y="17"/>
                  </a:cubicBezTo>
                  <a:close/>
                </a:path>
              </a:pathLst>
            </a:custGeom>
            <a:blipFill>
              <a:blip r:embed="rId7"/>
              <a:stretch>
                <a:fillRect l="-6365" t="-223" r="-21483" b="-28196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4166240" y="1981081"/>
            <a:ext cx="2542223" cy="2542223"/>
          </a:xfrm>
          <a:custGeom>
            <a:avLst/>
            <a:gdLst/>
            <a:ahLst/>
            <a:cxnLst/>
            <a:rect r="r" b="b" t="t" l="l"/>
            <a:pathLst>
              <a:path h="2542223" w="2542223">
                <a:moveTo>
                  <a:pt x="0" y="0"/>
                </a:moveTo>
                <a:lnTo>
                  <a:pt x="2542223" y="0"/>
                </a:lnTo>
                <a:lnTo>
                  <a:pt x="2542223" y="2542223"/>
                </a:lnTo>
                <a:lnTo>
                  <a:pt x="0" y="25422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153452" y="2034057"/>
            <a:ext cx="2567798" cy="2450865"/>
            <a:chOff x="0" y="0"/>
            <a:chExt cx="3423731" cy="32678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3200" y="2650"/>
              <a:ext cx="3277219" cy="3262664"/>
            </a:xfrm>
            <a:custGeom>
              <a:avLst/>
              <a:gdLst/>
              <a:ahLst/>
              <a:cxnLst/>
              <a:rect r="r" b="b" t="t" l="l"/>
              <a:pathLst>
                <a:path h="3262664" w="3277219">
                  <a:moveTo>
                    <a:pt x="1638633" y="17"/>
                  </a:moveTo>
                  <a:cubicBezTo>
                    <a:pt x="1054179" y="-2650"/>
                    <a:pt x="512905" y="307738"/>
                    <a:pt x="219789" y="813452"/>
                  </a:cubicBezTo>
                  <a:cubicBezTo>
                    <a:pt x="-73327" y="1319166"/>
                    <a:pt x="-73200" y="1943244"/>
                    <a:pt x="219789" y="2449085"/>
                  </a:cubicBezTo>
                  <a:cubicBezTo>
                    <a:pt x="512778" y="2954926"/>
                    <a:pt x="1054052" y="3265187"/>
                    <a:pt x="1638633" y="3262647"/>
                  </a:cubicBezTo>
                  <a:cubicBezTo>
                    <a:pt x="2223214" y="3265314"/>
                    <a:pt x="2764488" y="2954926"/>
                    <a:pt x="3057477" y="2449085"/>
                  </a:cubicBezTo>
                  <a:cubicBezTo>
                    <a:pt x="3350466" y="1943244"/>
                    <a:pt x="3350466" y="1319420"/>
                    <a:pt x="3057477" y="813579"/>
                  </a:cubicBezTo>
                  <a:cubicBezTo>
                    <a:pt x="2764488" y="307738"/>
                    <a:pt x="2223214" y="-2650"/>
                    <a:pt x="1638633" y="17"/>
                  </a:cubicBezTo>
                  <a:close/>
                </a:path>
              </a:pathLst>
            </a:custGeom>
            <a:blipFill>
              <a:blip r:embed="rId8"/>
              <a:stretch>
                <a:fillRect l="-77933" t="-81" r="-77937" b="-76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0129887" y="1961315"/>
            <a:ext cx="2542223" cy="2542223"/>
          </a:xfrm>
          <a:custGeom>
            <a:avLst/>
            <a:gdLst/>
            <a:ahLst/>
            <a:cxnLst/>
            <a:rect r="r" b="b" t="t" l="l"/>
            <a:pathLst>
              <a:path h="2542223" w="2542223">
                <a:moveTo>
                  <a:pt x="0" y="0"/>
                </a:moveTo>
                <a:lnTo>
                  <a:pt x="2542223" y="0"/>
                </a:lnTo>
                <a:lnTo>
                  <a:pt x="2542223" y="2542223"/>
                </a:lnTo>
                <a:lnTo>
                  <a:pt x="0" y="25422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120843" y="2008095"/>
            <a:ext cx="2567798" cy="2450865"/>
            <a:chOff x="0" y="0"/>
            <a:chExt cx="3423731" cy="326782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73200" y="2650"/>
              <a:ext cx="3277219" cy="3262664"/>
            </a:xfrm>
            <a:custGeom>
              <a:avLst/>
              <a:gdLst/>
              <a:ahLst/>
              <a:cxnLst/>
              <a:rect r="r" b="b" t="t" l="l"/>
              <a:pathLst>
                <a:path h="3262664" w="3277219">
                  <a:moveTo>
                    <a:pt x="1638633" y="17"/>
                  </a:moveTo>
                  <a:cubicBezTo>
                    <a:pt x="1054179" y="-2650"/>
                    <a:pt x="512905" y="307738"/>
                    <a:pt x="219789" y="813452"/>
                  </a:cubicBezTo>
                  <a:cubicBezTo>
                    <a:pt x="-73327" y="1319166"/>
                    <a:pt x="-73200" y="1943244"/>
                    <a:pt x="219789" y="2449085"/>
                  </a:cubicBezTo>
                  <a:cubicBezTo>
                    <a:pt x="512778" y="2954926"/>
                    <a:pt x="1054052" y="3265187"/>
                    <a:pt x="1638633" y="3262647"/>
                  </a:cubicBezTo>
                  <a:cubicBezTo>
                    <a:pt x="2223214" y="3265314"/>
                    <a:pt x="2764488" y="2954926"/>
                    <a:pt x="3057477" y="2449085"/>
                  </a:cubicBezTo>
                  <a:cubicBezTo>
                    <a:pt x="3350466" y="1943244"/>
                    <a:pt x="3350466" y="1319420"/>
                    <a:pt x="3057477" y="813579"/>
                  </a:cubicBezTo>
                  <a:cubicBezTo>
                    <a:pt x="2764488" y="307738"/>
                    <a:pt x="2223214" y="-2650"/>
                    <a:pt x="1638633" y="17"/>
                  </a:cubicBezTo>
                  <a:close/>
                </a:path>
              </a:pathLst>
            </a:custGeom>
            <a:blipFill>
              <a:blip r:embed="rId9"/>
              <a:stretch>
                <a:fillRect l="0" t="-223" r="0" b="-22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096950" y="1968140"/>
            <a:ext cx="2646350" cy="2525840"/>
            <a:chOff x="0" y="0"/>
            <a:chExt cx="3528466" cy="336778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75502" y="2650"/>
              <a:ext cx="3377565" cy="3362485"/>
            </a:xfrm>
            <a:custGeom>
              <a:avLst/>
              <a:gdLst/>
              <a:ahLst/>
              <a:cxnLst/>
              <a:rect r="r" b="b" t="t" l="l"/>
              <a:pathLst>
                <a:path h="3362485" w="3377565">
                  <a:moveTo>
                    <a:pt x="1688782" y="17"/>
                  </a:moveTo>
                  <a:cubicBezTo>
                    <a:pt x="1086294" y="-2650"/>
                    <a:pt x="528510" y="317136"/>
                    <a:pt x="226504" y="838471"/>
                  </a:cubicBezTo>
                  <a:cubicBezTo>
                    <a:pt x="-75502" y="1359806"/>
                    <a:pt x="-75502" y="2002807"/>
                    <a:pt x="226504" y="2524015"/>
                  </a:cubicBezTo>
                  <a:cubicBezTo>
                    <a:pt x="528510" y="3045223"/>
                    <a:pt x="1086294" y="3365136"/>
                    <a:pt x="1688782" y="3362469"/>
                  </a:cubicBezTo>
                  <a:cubicBezTo>
                    <a:pt x="2291270" y="3365136"/>
                    <a:pt x="2849054" y="3045350"/>
                    <a:pt x="3151060" y="2524015"/>
                  </a:cubicBezTo>
                  <a:cubicBezTo>
                    <a:pt x="3453066" y="2002680"/>
                    <a:pt x="3453066" y="1359679"/>
                    <a:pt x="3151060" y="838471"/>
                  </a:cubicBezTo>
                  <a:cubicBezTo>
                    <a:pt x="2849054" y="317263"/>
                    <a:pt x="2291143" y="-2650"/>
                    <a:pt x="1688782" y="17"/>
                  </a:cubicBezTo>
                  <a:close/>
                </a:path>
              </a:pathLst>
            </a:custGeom>
            <a:blipFill>
              <a:blip r:embed="rId10"/>
              <a:stretch>
                <a:fillRect l="-2235" t="-2468" r="-2232" b="-2468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158658" y="1981081"/>
            <a:ext cx="2536036" cy="2536030"/>
            <a:chOff x="0" y="0"/>
            <a:chExt cx="3323168" cy="332316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23209" cy="3323209"/>
            </a:xfrm>
            <a:custGeom>
              <a:avLst/>
              <a:gdLst/>
              <a:ahLst/>
              <a:cxnLst/>
              <a:rect r="r" b="b" t="t" l="l"/>
              <a:pathLst>
                <a:path h="3323209" w="3323209">
                  <a:moveTo>
                    <a:pt x="1661541" y="3323209"/>
                  </a:moveTo>
                  <a:cubicBezTo>
                    <a:pt x="745363" y="3323209"/>
                    <a:pt x="0" y="2577846"/>
                    <a:pt x="0" y="1661541"/>
                  </a:cubicBezTo>
                  <a:cubicBezTo>
                    <a:pt x="0" y="745236"/>
                    <a:pt x="745363" y="0"/>
                    <a:pt x="1661541" y="0"/>
                  </a:cubicBezTo>
                  <a:cubicBezTo>
                    <a:pt x="2577719" y="0"/>
                    <a:pt x="3323209" y="745363"/>
                    <a:pt x="3323209" y="1661541"/>
                  </a:cubicBezTo>
                  <a:cubicBezTo>
                    <a:pt x="3323209" y="2577719"/>
                    <a:pt x="2577846" y="3323209"/>
                    <a:pt x="1661541" y="3323209"/>
                  </a:cubicBezTo>
                  <a:close/>
                  <a:moveTo>
                    <a:pt x="1661541" y="60579"/>
                  </a:moveTo>
                  <a:cubicBezTo>
                    <a:pt x="778764" y="60579"/>
                    <a:pt x="60579" y="778764"/>
                    <a:pt x="60579" y="1661541"/>
                  </a:cubicBezTo>
                  <a:cubicBezTo>
                    <a:pt x="60579" y="2544318"/>
                    <a:pt x="778764" y="3262630"/>
                    <a:pt x="1661541" y="3262630"/>
                  </a:cubicBezTo>
                  <a:cubicBezTo>
                    <a:pt x="2544318" y="3262630"/>
                    <a:pt x="3262630" y="2544445"/>
                    <a:pt x="3262630" y="1661541"/>
                  </a:cubicBezTo>
                  <a:cubicBezTo>
                    <a:pt x="3262630" y="778637"/>
                    <a:pt x="2544318" y="60579"/>
                    <a:pt x="1661541" y="60579"/>
                  </a:cubicBezTo>
                  <a:close/>
                </a:path>
              </a:pathLst>
            </a:custGeom>
            <a:solidFill>
              <a:srgbClr val="003A5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150136" y="1947388"/>
            <a:ext cx="2538506" cy="2538501"/>
            <a:chOff x="0" y="0"/>
            <a:chExt cx="3323168" cy="332316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23209" cy="3323209"/>
            </a:xfrm>
            <a:custGeom>
              <a:avLst/>
              <a:gdLst/>
              <a:ahLst/>
              <a:cxnLst/>
              <a:rect r="r" b="b" t="t" l="l"/>
              <a:pathLst>
                <a:path h="3323209" w="3323209">
                  <a:moveTo>
                    <a:pt x="1661541" y="3323209"/>
                  </a:moveTo>
                  <a:cubicBezTo>
                    <a:pt x="745363" y="3323209"/>
                    <a:pt x="0" y="2577846"/>
                    <a:pt x="0" y="1661541"/>
                  </a:cubicBezTo>
                  <a:cubicBezTo>
                    <a:pt x="0" y="745236"/>
                    <a:pt x="745363" y="0"/>
                    <a:pt x="1661541" y="0"/>
                  </a:cubicBezTo>
                  <a:cubicBezTo>
                    <a:pt x="2577719" y="0"/>
                    <a:pt x="3323209" y="745363"/>
                    <a:pt x="3323209" y="1661541"/>
                  </a:cubicBezTo>
                  <a:cubicBezTo>
                    <a:pt x="3323209" y="2577719"/>
                    <a:pt x="2577846" y="3323209"/>
                    <a:pt x="1661541" y="3323209"/>
                  </a:cubicBezTo>
                  <a:close/>
                  <a:moveTo>
                    <a:pt x="1661541" y="60579"/>
                  </a:moveTo>
                  <a:cubicBezTo>
                    <a:pt x="778764" y="60579"/>
                    <a:pt x="60579" y="778764"/>
                    <a:pt x="60579" y="1661541"/>
                  </a:cubicBezTo>
                  <a:cubicBezTo>
                    <a:pt x="60579" y="2544318"/>
                    <a:pt x="778764" y="3262630"/>
                    <a:pt x="1661541" y="3262630"/>
                  </a:cubicBezTo>
                  <a:cubicBezTo>
                    <a:pt x="2544318" y="3262630"/>
                    <a:pt x="3262630" y="2544445"/>
                    <a:pt x="3262630" y="1661541"/>
                  </a:cubicBezTo>
                  <a:cubicBezTo>
                    <a:pt x="3262630" y="778637"/>
                    <a:pt x="2544318" y="60579"/>
                    <a:pt x="1661541" y="60579"/>
                  </a:cubicBezTo>
                  <a:close/>
                </a:path>
              </a:pathLst>
            </a:custGeom>
            <a:solidFill>
              <a:srgbClr val="003A53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184586" y="4775178"/>
            <a:ext cx="2710274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Rajdhani Bold"/>
                <a:ea typeface="Rajdhani Bold"/>
                <a:cs typeface="Rajdhani Bold"/>
                <a:sym typeface="Rajdhani Bold"/>
              </a:rPr>
              <a:t>Mirna Đukić Švraka,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Rajdhani Bold"/>
                <a:ea typeface="Rajdhani Bold"/>
                <a:cs typeface="Rajdhani Bold"/>
                <a:sym typeface="Rajdhani Bold"/>
              </a:rPr>
              <a:t> Regionalni direktor marketinga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184586" y="5812450"/>
            <a:ext cx="2710274" cy="413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 više od 15 godina iskustva u finansijskom sektoru i bogatom karijerom u oblasti marketinga, prošla je kroz gotovo sve segmente marketinške profesije.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Njene vještine uključuju kreativnost, strateško planiranje, upravljanje budžetima i razvoj dugoročnih ideja. Ističe se željom za učenjem, praćenjem trendova i novim inicijativama, uz izražen osjećaj za stil i estetiku.</a:t>
            </a:r>
          </a:p>
          <a:p>
            <a:pPr algn="l">
              <a:lnSpc>
                <a:spcPts val="223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7263616" y="4700816"/>
            <a:ext cx="2989421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Rajdhani Bold"/>
                <a:ea typeface="Rajdhani Bold"/>
                <a:cs typeface="Rajdhani Bold"/>
                <a:sym typeface="Rajdhani Bold"/>
              </a:rPr>
              <a:t>Nataša Majstorović,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Rajdhani Bold"/>
                <a:ea typeface="Rajdhani Bold"/>
                <a:cs typeface="Rajdhani Bold"/>
                <a:sym typeface="Rajdhani Bold"/>
              </a:rPr>
              <a:t> Regionalni operativni direktor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63210" y="5876201"/>
            <a:ext cx="2466988" cy="357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Više od 17 godina radnog iskustva u finansijskom sektoru. Ističe se po svojoj stručnosti u konceptualizaciji rešenja i njihovoj efikasnoj implementaciji. Kreativna, analitična, ima inicijativu i odlučnost, čime se ističe kao stručnjak koji uspješno sprovodi kompleksne poslovne strategije. Ima radnu etiku poput mrava.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153452" y="4859319"/>
            <a:ext cx="300894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Rajdhani Bold"/>
                <a:ea typeface="Rajdhani Bold"/>
                <a:cs typeface="Rajdhani Bold"/>
                <a:sym typeface="Rajdhani Bold"/>
              </a:rPr>
              <a:t>Nenad Marjanović</a:t>
            </a:r>
            <a:r>
              <a:rPr lang="en-US" sz="2100" b="true">
                <a:solidFill>
                  <a:srgbClr val="000000"/>
                </a:solidFill>
                <a:latin typeface="Rajdhani Bold"/>
                <a:ea typeface="Rajdhani Bold"/>
                <a:cs typeface="Rajdhani Bold"/>
                <a:sym typeface="Rajdhani Bold"/>
              </a:rPr>
              <a:t>,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Rajdhani Bold"/>
                <a:ea typeface="Rajdhani Bold"/>
                <a:cs typeface="Rajdhani Bold"/>
                <a:sym typeface="Rajdhani Bold"/>
              </a:rPr>
              <a:t> Menadžer prodaje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082023" y="5972791"/>
            <a:ext cx="2612671" cy="330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</a:t>
            </a:r>
            <a:r>
              <a:rPr lang="en-US" sz="15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ogato radno iskustvo u mikrokreditnom sektoru, na različitim pozicijama u toku 20-ogodišnjeg radnog staža. Posvećen, istrajan, otvorenog uma. Izuzetno talentovan za rad sa ljudima. Uz njegovo vođstvo, svaki izazov u radu je moguće uspješno savladati. U tome mu pomaže i njegov vedri duh, pozitivan stav i odličan smisao za humor.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07441" y="4710765"/>
            <a:ext cx="2974582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Rajdhani Bold"/>
                <a:ea typeface="Rajdhani Bold"/>
                <a:cs typeface="Rajdhani Bold"/>
                <a:sym typeface="Rajdhani Bold"/>
              </a:rPr>
              <a:t>Radmila Bjeljac,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Rajdhani Bold"/>
                <a:ea typeface="Rajdhani Bold"/>
                <a:cs typeface="Rajdhani Bold"/>
                <a:sym typeface="Rajdhani Bold"/>
              </a:rPr>
              <a:t> Country Manager 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Rajdhani Bold"/>
                <a:ea typeface="Rajdhani Bold"/>
                <a:cs typeface="Rajdhani Bold"/>
                <a:sym typeface="Rajdhani Bold"/>
              </a:rPr>
              <a:t>BiH i CG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2672" y="5748038"/>
            <a:ext cx="2567798" cy="413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Sa preko 20 godina u finansijskom sektoru, sticala je iskustvo na ključnim rukovodećim pozicijama. Njen stručni fokus obuhvata liderstvo u svim aspektima, uključujući izgradnju i vođenje timova, kao i razvoj istih. Posjeduje izraženu odlučnost, sistematičan pristup i vještine rješavanja problema. Njena reputacija sinonim je za integritet, stabilnost i snagu u poslovnom okruženju.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82960" y="5812450"/>
            <a:ext cx="2538506" cy="385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Posjeduje više od 12 godina profesionalnog iskustva u oblastima računovodstva, finansija i upravljanja poslovnim procesima. Svoj rad gradi na odgovornosti, pouzdanosti i stručnosti.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Kao predavač na kursu računovodstva i mentor mlađim kolegama, doprinosi razvoju tima kroz stručnu podršku, otvorenu saradnju i kontinuirano dijeljenje iskustva.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82960" y="4713970"/>
            <a:ext cx="2872381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Rajdhani Bold"/>
                <a:ea typeface="Rajdhani Bold"/>
                <a:cs typeface="Rajdhani Bold"/>
                <a:sym typeface="Rajdhani Bold"/>
              </a:rPr>
              <a:t>Nevena Ilić,</a:t>
            </a:r>
            <a:r>
              <a:rPr lang="en-US" sz="2100" b="true">
                <a:solidFill>
                  <a:srgbClr val="000000"/>
                </a:solidFill>
                <a:latin typeface="Rajdhani Bold"/>
                <a:ea typeface="Rajdhani Bold"/>
                <a:cs typeface="Rajdhani Bold"/>
                <a:sym typeface="Rajdhani Bold"/>
              </a:rPr>
              <a:t> 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Rajdhani Bold"/>
                <a:ea typeface="Rajdhani Bold"/>
                <a:cs typeface="Rajdhani Bold"/>
                <a:sym typeface="Rajdhani Bold"/>
              </a:rPr>
              <a:t> Direktor finansija i računovodstva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07441" y="931545"/>
            <a:ext cx="14604997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003A53"/>
                </a:solidFill>
                <a:latin typeface="Rajdhani Bold"/>
                <a:ea typeface="Rajdhani Bold"/>
                <a:cs typeface="Rajdhani Bold"/>
                <a:sym typeface="Rajdhani Bold"/>
              </a:rPr>
              <a:t>MENADŽMENT FLEX CREDITA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191692" y="1924323"/>
            <a:ext cx="2538506" cy="2538501"/>
            <a:chOff x="0" y="0"/>
            <a:chExt cx="3323168" cy="332316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323209" cy="3323209"/>
            </a:xfrm>
            <a:custGeom>
              <a:avLst/>
              <a:gdLst/>
              <a:ahLst/>
              <a:cxnLst/>
              <a:rect r="r" b="b" t="t" l="l"/>
              <a:pathLst>
                <a:path h="3323209" w="3323209">
                  <a:moveTo>
                    <a:pt x="1661541" y="3323209"/>
                  </a:moveTo>
                  <a:cubicBezTo>
                    <a:pt x="745363" y="3323209"/>
                    <a:pt x="0" y="2577846"/>
                    <a:pt x="0" y="1661541"/>
                  </a:cubicBezTo>
                  <a:cubicBezTo>
                    <a:pt x="0" y="745236"/>
                    <a:pt x="745363" y="0"/>
                    <a:pt x="1661541" y="0"/>
                  </a:cubicBezTo>
                  <a:cubicBezTo>
                    <a:pt x="2577719" y="0"/>
                    <a:pt x="3323209" y="745363"/>
                    <a:pt x="3323209" y="1661541"/>
                  </a:cubicBezTo>
                  <a:cubicBezTo>
                    <a:pt x="3323209" y="2577719"/>
                    <a:pt x="2577846" y="3323209"/>
                    <a:pt x="1661541" y="3323209"/>
                  </a:cubicBezTo>
                  <a:close/>
                  <a:moveTo>
                    <a:pt x="1661541" y="60579"/>
                  </a:moveTo>
                  <a:cubicBezTo>
                    <a:pt x="778764" y="60579"/>
                    <a:pt x="60579" y="778764"/>
                    <a:pt x="60579" y="1661541"/>
                  </a:cubicBezTo>
                  <a:cubicBezTo>
                    <a:pt x="60579" y="2544318"/>
                    <a:pt x="778764" y="3262630"/>
                    <a:pt x="1661541" y="3262630"/>
                  </a:cubicBezTo>
                  <a:cubicBezTo>
                    <a:pt x="2544318" y="3262630"/>
                    <a:pt x="3262630" y="2544445"/>
                    <a:pt x="3262630" y="1661541"/>
                  </a:cubicBezTo>
                  <a:cubicBezTo>
                    <a:pt x="3262630" y="778637"/>
                    <a:pt x="2544318" y="60579"/>
                    <a:pt x="1661541" y="60579"/>
                  </a:cubicBezTo>
                  <a:close/>
                </a:path>
              </a:pathLst>
            </a:custGeom>
            <a:solidFill>
              <a:srgbClr val="003A53"/>
            </a:solid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A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64188" y="290925"/>
            <a:ext cx="1393117" cy="1475550"/>
          </a:xfrm>
          <a:custGeom>
            <a:avLst/>
            <a:gdLst/>
            <a:ahLst/>
            <a:cxnLst/>
            <a:rect r="r" b="b" t="t" l="l"/>
            <a:pathLst>
              <a:path h="1475550" w="1393117">
                <a:moveTo>
                  <a:pt x="0" y="0"/>
                </a:moveTo>
                <a:lnTo>
                  <a:pt x="1393116" y="0"/>
                </a:lnTo>
                <a:lnTo>
                  <a:pt x="1393116" y="1475550"/>
                </a:lnTo>
                <a:lnTo>
                  <a:pt x="0" y="1475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2280043" y="4075774"/>
            <a:ext cx="3049853" cy="3049853"/>
            <a:chOff x="0" y="0"/>
            <a:chExt cx="14840029" cy="148400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94B143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 descr="Nenad Marjanović, menadžer prodaje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3"/>
              <a:stretch>
                <a:fillRect l="223" t="0" r="223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5963090" y="4229100"/>
            <a:ext cx="8777530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F7F4F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Tvoja mentorica je Aleksandra Antešević.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F7F4F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Aleksandra će ti biti glavna podrška pri upoznavanju s timom, procesima i svakodnevnim radom na poziciji saradnika za radne odnose.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7441" y="931545"/>
            <a:ext cx="14150451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7F4F0"/>
                </a:solidFill>
                <a:latin typeface="Rajdhani Bold"/>
                <a:ea typeface="Rajdhani Bold"/>
                <a:cs typeface="Rajdhani Bold"/>
                <a:sym typeface="Rajdhani Bold"/>
              </a:rPr>
              <a:t>TVOJI MENTORI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64188" y="290925"/>
            <a:ext cx="1393117" cy="1475550"/>
          </a:xfrm>
          <a:custGeom>
            <a:avLst/>
            <a:gdLst/>
            <a:ahLst/>
            <a:cxnLst/>
            <a:rect r="r" b="b" t="t" l="l"/>
            <a:pathLst>
              <a:path h="1475550" w="1393117">
                <a:moveTo>
                  <a:pt x="0" y="0"/>
                </a:moveTo>
                <a:lnTo>
                  <a:pt x="1393116" y="0"/>
                </a:lnTo>
                <a:lnTo>
                  <a:pt x="1393116" y="1475550"/>
                </a:lnTo>
                <a:lnTo>
                  <a:pt x="0" y="1475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04353" y="2702726"/>
            <a:ext cx="5854947" cy="6555574"/>
          </a:xfrm>
          <a:custGeom>
            <a:avLst/>
            <a:gdLst/>
            <a:ahLst/>
            <a:cxnLst/>
            <a:rect r="r" b="b" t="t" l="l"/>
            <a:pathLst>
              <a:path h="6555574" w="5854947">
                <a:moveTo>
                  <a:pt x="0" y="0"/>
                </a:moveTo>
                <a:lnTo>
                  <a:pt x="5854947" y="0"/>
                </a:lnTo>
                <a:lnTo>
                  <a:pt x="5854947" y="6555574"/>
                </a:lnTo>
                <a:lnTo>
                  <a:pt x="0" y="65555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07441" y="931545"/>
            <a:ext cx="14150451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003A53"/>
                </a:solidFill>
                <a:latin typeface="Rajdhani Bold"/>
                <a:ea typeface="Rajdhani Bold"/>
                <a:cs typeface="Rajdhani Bold"/>
                <a:sym typeface="Rajdhani Bold"/>
              </a:rPr>
              <a:t>TVOJA ULOGA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07441" y="3286604"/>
            <a:ext cx="9612866" cy="502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90C226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Svrha tvog radnog mjesta je da obezbijediš zakonito, pravedno i strateški usklađeno upravljanje radnim odnosima, pri čemu ćeš štititi interese kompanije, ali i prava zaposlenih.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90C226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To ćeš postići kroz kontinuiran, istrajan i posvećen rad te uspostavljanje odnosa povjerenja s kolegama.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90C226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Na tom putu dobićeš bezrezervnu podršku iskusnih kolega, a prvenstveno svoje mentorice Aleksandre Antešević i neposredne rukovoditeljice Sanje Knežević.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7441" y="931545"/>
            <a:ext cx="14150451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003A53"/>
                </a:solidFill>
                <a:latin typeface="Rajdhani Bold"/>
                <a:ea typeface="Rajdhani Bold"/>
                <a:cs typeface="Rajdhani Bold"/>
                <a:sym typeface="Rajdhani Bold"/>
              </a:rPr>
              <a:t>ŠTA TI PRUŽA FLEX CREDIT?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509489"/>
            <a:ext cx="6434802" cy="2062511"/>
            <a:chOff x="0" y="0"/>
            <a:chExt cx="8579736" cy="27500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79739" cy="2750058"/>
            </a:xfrm>
            <a:custGeom>
              <a:avLst/>
              <a:gdLst/>
              <a:ahLst/>
              <a:cxnLst/>
              <a:rect r="r" b="b" t="t" l="l"/>
              <a:pathLst>
                <a:path h="2750058" w="8579739">
                  <a:moveTo>
                    <a:pt x="310642" y="0"/>
                  </a:moveTo>
                  <a:lnTo>
                    <a:pt x="8269097" y="0"/>
                  </a:lnTo>
                  <a:cubicBezTo>
                    <a:pt x="8351520" y="0"/>
                    <a:pt x="8430514" y="32766"/>
                    <a:pt x="8488807" y="90932"/>
                  </a:cubicBezTo>
                  <a:cubicBezTo>
                    <a:pt x="8547100" y="149098"/>
                    <a:pt x="8579739" y="228219"/>
                    <a:pt x="8579739" y="310642"/>
                  </a:cubicBezTo>
                  <a:lnTo>
                    <a:pt x="8579739" y="2439416"/>
                  </a:lnTo>
                  <a:cubicBezTo>
                    <a:pt x="8579739" y="2521839"/>
                    <a:pt x="8546973" y="2600833"/>
                    <a:pt x="8488807" y="2659126"/>
                  </a:cubicBezTo>
                  <a:cubicBezTo>
                    <a:pt x="8430640" y="2717419"/>
                    <a:pt x="8351520" y="2750058"/>
                    <a:pt x="8269097" y="2750058"/>
                  </a:cubicBezTo>
                  <a:lnTo>
                    <a:pt x="310642" y="2750058"/>
                  </a:lnTo>
                  <a:cubicBezTo>
                    <a:pt x="228219" y="2750058"/>
                    <a:pt x="149225" y="2717292"/>
                    <a:pt x="90932" y="2659126"/>
                  </a:cubicBezTo>
                  <a:cubicBezTo>
                    <a:pt x="32639" y="2600960"/>
                    <a:pt x="0" y="2521712"/>
                    <a:pt x="0" y="2439416"/>
                  </a:cubicBezTo>
                  <a:lnTo>
                    <a:pt x="0" y="310642"/>
                  </a:lnTo>
                  <a:cubicBezTo>
                    <a:pt x="0" y="228219"/>
                    <a:pt x="32766" y="149225"/>
                    <a:pt x="90932" y="90932"/>
                  </a:cubicBezTo>
                  <a:cubicBezTo>
                    <a:pt x="149098" y="32639"/>
                    <a:pt x="228219" y="0"/>
                    <a:pt x="310642" y="0"/>
                  </a:cubicBezTo>
                  <a:close/>
                </a:path>
              </a:pathLst>
            </a:custGeom>
            <a:solidFill>
              <a:srgbClr val="434949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96492" y="3119898"/>
            <a:ext cx="6333202" cy="98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6"/>
              </a:lnSpc>
            </a:pPr>
            <a:r>
              <a:rPr lang="en-US" sz="3599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Profesionalni</a:t>
            </a:r>
          </a:p>
          <a:p>
            <a:pPr algn="l">
              <a:lnSpc>
                <a:spcPts val="3886"/>
              </a:lnSpc>
            </a:pPr>
            <a:r>
              <a:rPr lang="en-US" sz="3599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razvoj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4754648"/>
            <a:ext cx="6395436" cy="2007044"/>
            <a:chOff x="0" y="0"/>
            <a:chExt cx="8527248" cy="26760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27288" cy="2676017"/>
            </a:xfrm>
            <a:custGeom>
              <a:avLst/>
              <a:gdLst/>
              <a:ahLst/>
              <a:cxnLst/>
              <a:rect r="r" b="b" t="t" l="l"/>
              <a:pathLst>
                <a:path h="2676017" w="8527288">
                  <a:moveTo>
                    <a:pt x="312547" y="0"/>
                  </a:moveTo>
                  <a:lnTo>
                    <a:pt x="8214741" y="0"/>
                  </a:lnTo>
                  <a:cubicBezTo>
                    <a:pt x="8387335" y="0"/>
                    <a:pt x="8527288" y="139954"/>
                    <a:pt x="8527288" y="312547"/>
                  </a:cubicBezTo>
                  <a:lnTo>
                    <a:pt x="8527288" y="2363470"/>
                  </a:lnTo>
                  <a:cubicBezTo>
                    <a:pt x="8527288" y="2536063"/>
                    <a:pt x="8387335" y="2676017"/>
                    <a:pt x="8214741" y="2676017"/>
                  </a:cubicBezTo>
                  <a:lnTo>
                    <a:pt x="312547" y="2676017"/>
                  </a:lnTo>
                  <a:cubicBezTo>
                    <a:pt x="139954" y="2676017"/>
                    <a:pt x="0" y="2536190"/>
                    <a:pt x="0" y="2363470"/>
                  </a:cubicBezTo>
                  <a:lnTo>
                    <a:pt x="0" y="312547"/>
                  </a:lnTo>
                  <a:cubicBezTo>
                    <a:pt x="0" y="139954"/>
                    <a:pt x="139954" y="0"/>
                    <a:pt x="312547" y="0"/>
                  </a:cubicBezTo>
                  <a:close/>
                </a:path>
              </a:pathLst>
            </a:custGeom>
            <a:solidFill>
              <a:srgbClr val="434949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96492" y="5063165"/>
            <a:ext cx="6293832" cy="147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6"/>
              </a:lnSpc>
            </a:pPr>
            <a:r>
              <a:rPr lang="en-US" sz="3599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Bezrezervnu</a:t>
            </a:r>
          </a:p>
          <a:p>
            <a:pPr algn="l">
              <a:lnSpc>
                <a:spcPts val="3886"/>
              </a:lnSpc>
            </a:pPr>
            <a:r>
              <a:rPr lang="en-US" sz="3599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podršku</a:t>
            </a:r>
          </a:p>
          <a:p>
            <a:pPr algn="l">
              <a:lnSpc>
                <a:spcPts val="3886"/>
              </a:lnSpc>
            </a:pPr>
            <a:r>
              <a:rPr lang="en-US" sz="3599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kolega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948582" y="4763165"/>
            <a:ext cx="6356061" cy="2035962"/>
            <a:chOff x="0" y="0"/>
            <a:chExt cx="8474748" cy="27146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74710" cy="2714625"/>
            </a:xfrm>
            <a:custGeom>
              <a:avLst/>
              <a:gdLst/>
              <a:ahLst/>
              <a:cxnLst/>
              <a:rect r="r" b="b" t="t" l="l"/>
              <a:pathLst>
                <a:path h="2714625" w="8474710">
                  <a:moveTo>
                    <a:pt x="314452" y="0"/>
                  </a:moveTo>
                  <a:lnTo>
                    <a:pt x="8160258" y="0"/>
                  </a:lnTo>
                  <a:cubicBezTo>
                    <a:pt x="8333994" y="0"/>
                    <a:pt x="8474710" y="140843"/>
                    <a:pt x="8474710" y="314452"/>
                  </a:cubicBezTo>
                  <a:lnTo>
                    <a:pt x="8474710" y="2400173"/>
                  </a:lnTo>
                  <a:cubicBezTo>
                    <a:pt x="8474710" y="2483612"/>
                    <a:pt x="8441563" y="2563622"/>
                    <a:pt x="8382635" y="2622550"/>
                  </a:cubicBezTo>
                  <a:cubicBezTo>
                    <a:pt x="8323707" y="2681478"/>
                    <a:pt x="8243697" y="2714625"/>
                    <a:pt x="8160258" y="2714625"/>
                  </a:cubicBezTo>
                  <a:lnTo>
                    <a:pt x="314452" y="2714625"/>
                  </a:lnTo>
                  <a:cubicBezTo>
                    <a:pt x="231013" y="2714625"/>
                    <a:pt x="151003" y="2681478"/>
                    <a:pt x="92075" y="2622550"/>
                  </a:cubicBezTo>
                  <a:cubicBezTo>
                    <a:pt x="33147" y="2563622"/>
                    <a:pt x="0" y="2483485"/>
                    <a:pt x="0" y="2400173"/>
                  </a:cubicBezTo>
                  <a:lnTo>
                    <a:pt x="0" y="314452"/>
                  </a:lnTo>
                  <a:cubicBezTo>
                    <a:pt x="0" y="231140"/>
                    <a:pt x="33147" y="151130"/>
                    <a:pt x="92075" y="92075"/>
                  </a:cubicBezTo>
                  <a:cubicBezTo>
                    <a:pt x="151003" y="33020"/>
                    <a:pt x="231140" y="0"/>
                    <a:pt x="314452" y="0"/>
                  </a:cubicBezTo>
                  <a:close/>
                </a:path>
              </a:pathLst>
            </a:custGeom>
            <a:solidFill>
              <a:srgbClr val="434949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199245" y="5063165"/>
            <a:ext cx="6254461" cy="147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6"/>
              </a:lnSpc>
            </a:pPr>
            <a:r>
              <a:rPr lang="en-US" sz="3599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Mogućnost</a:t>
            </a:r>
          </a:p>
          <a:p>
            <a:pPr algn="l">
              <a:lnSpc>
                <a:spcPts val="3886"/>
              </a:lnSpc>
            </a:pPr>
            <a:r>
              <a:rPr lang="en-US" sz="3599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napredovanja</a:t>
            </a:r>
          </a:p>
          <a:p>
            <a:pPr algn="l">
              <a:lnSpc>
                <a:spcPts val="3886"/>
              </a:lnSpc>
            </a:pPr>
            <a:r>
              <a:rPr lang="en-US" sz="3599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na više pozicije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6942668"/>
            <a:ext cx="6375746" cy="2007044"/>
            <a:chOff x="0" y="0"/>
            <a:chExt cx="8500995" cy="26760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01126" cy="2676144"/>
            </a:xfrm>
            <a:custGeom>
              <a:avLst/>
              <a:gdLst/>
              <a:ahLst/>
              <a:cxnLst/>
              <a:rect r="r" b="b" t="t" l="l"/>
              <a:pathLst>
                <a:path h="2676144" w="8501126">
                  <a:moveTo>
                    <a:pt x="313563" y="0"/>
                  </a:moveTo>
                  <a:lnTo>
                    <a:pt x="8187563" y="0"/>
                  </a:lnTo>
                  <a:cubicBezTo>
                    <a:pt x="8270748" y="0"/>
                    <a:pt x="8350504" y="33020"/>
                    <a:pt x="8409305" y="91821"/>
                  </a:cubicBezTo>
                  <a:cubicBezTo>
                    <a:pt x="8468106" y="150622"/>
                    <a:pt x="8501126" y="230378"/>
                    <a:pt x="8501126" y="313563"/>
                  </a:cubicBezTo>
                  <a:lnTo>
                    <a:pt x="8501126" y="2362581"/>
                  </a:lnTo>
                  <a:cubicBezTo>
                    <a:pt x="8501126" y="2445766"/>
                    <a:pt x="8468106" y="2525522"/>
                    <a:pt x="8409305" y="2584323"/>
                  </a:cubicBezTo>
                  <a:cubicBezTo>
                    <a:pt x="8350504" y="2643124"/>
                    <a:pt x="8270748" y="2676144"/>
                    <a:pt x="8187563" y="2676144"/>
                  </a:cubicBezTo>
                  <a:lnTo>
                    <a:pt x="313563" y="2676144"/>
                  </a:lnTo>
                  <a:cubicBezTo>
                    <a:pt x="230378" y="2676144"/>
                    <a:pt x="150622" y="2643124"/>
                    <a:pt x="91821" y="2584323"/>
                  </a:cubicBezTo>
                  <a:cubicBezTo>
                    <a:pt x="33020" y="2525522"/>
                    <a:pt x="0" y="2445639"/>
                    <a:pt x="0" y="2362581"/>
                  </a:cubicBezTo>
                  <a:lnTo>
                    <a:pt x="0" y="313563"/>
                  </a:lnTo>
                  <a:cubicBezTo>
                    <a:pt x="0" y="230378"/>
                    <a:pt x="33020" y="150622"/>
                    <a:pt x="91821" y="91821"/>
                  </a:cubicBezTo>
                  <a:cubicBezTo>
                    <a:pt x="150622" y="33020"/>
                    <a:pt x="230378" y="0"/>
                    <a:pt x="313563" y="0"/>
                  </a:cubicBezTo>
                  <a:close/>
                </a:path>
              </a:pathLst>
            </a:custGeom>
            <a:solidFill>
              <a:srgbClr val="434949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96492" y="7495118"/>
            <a:ext cx="6274146" cy="98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6"/>
              </a:lnSpc>
            </a:pPr>
            <a:r>
              <a:rPr lang="en-US" sz="3599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Druženja</a:t>
            </a:r>
          </a:p>
          <a:p>
            <a:pPr algn="l">
              <a:lnSpc>
                <a:spcPts val="3886"/>
              </a:lnSpc>
            </a:pPr>
            <a:r>
              <a:rPr lang="en-US" sz="3599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 proslave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948582" y="2509489"/>
            <a:ext cx="6364350" cy="2062511"/>
            <a:chOff x="0" y="0"/>
            <a:chExt cx="8485800" cy="27500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485759" cy="2750058"/>
            </a:xfrm>
            <a:custGeom>
              <a:avLst/>
              <a:gdLst/>
              <a:ahLst/>
              <a:cxnLst/>
              <a:rect r="r" b="b" t="t" l="l"/>
              <a:pathLst>
                <a:path h="2750058" w="8485759">
                  <a:moveTo>
                    <a:pt x="314071" y="0"/>
                  </a:moveTo>
                  <a:lnTo>
                    <a:pt x="8171688" y="0"/>
                  </a:lnTo>
                  <a:cubicBezTo>
                    <a:pt x="8345170" y="0"/>
                    <a:pt x="8485759" y="140589"/>
                    <a:pt x="8485759" y="314071"/>
                  </a:cubicBezTo>
                  <a:lnTo>
                    <a:pt x="8485759" y="2435987"/>
                  </a:lnTo>
                  <a:cubicBezTo>
                    <a:pt x="8485759" y="2519299"/>
                    <a:pt x="8452612" y="2599182"/>
                    <a:pt x="8393811" y="2658110"/>
                  </a:cubicBezTo>
                  <a:cubicBezTo>
                    <a:pt x="8335010" y="2717038"/>
                    <a:pt x="8255000" y="2750058"/>
                    <a:pt x="8171688" y="2750058"/>
                  </a:cubicBezTo>
                  <a:lnTo>
                    <a:pt x="314071" y="2750058"/>
                  </a:lnTo>
                  <a:cubicBezTo>
                    <a:pt x="230759" y="2750058"/>
                    <a:pt x="150876" y="2716911"/>
                    <a:pt x="91948" y="2658110"/>
                  </a:cubicBezTo>
                  <a:cubicBezTo>
                    <a:pt x="33020" y="2599309"/>
                    <a:pt x="0" y="2519299"/>
                    <a:pt x="0" y="2435987"/>
                  </a:cubicBezTo>
                  <a:lnTo>
                    <a:pt x="0" y="314071"/>
                  </a:lnTo>
                  <a:cubicBezTo>
                    <a:pt x="0" y="230759"/>
                    <a:pt x="33147" y="150876"/>
                    <a:pt x="91948" y="91948"/>
                  </a:cubicBezTo>
                  <a:cubicBezTo>
                    <a:pt x="150749" y="33020"/>
                    <a:pt x="230759" y="0"/>
                    <a:pt x="314071" y="0"/>
                  </a:cubicBezTo>
                  <a:close/>
                </a:path>
              </a:pathLst>
            </a:custGeom>
            <a:solidFill>
              <a:srgbClr val="434949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190956" y="3040460"/>
            <a:ext cx="6262750" cy="98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6"/>
              </a:lnSpc>
            </a:pPr>
            <a:r>
              <a:rPr lang="en-US" sz="3599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Prepoznat i </a:t>
            </a:r>
          </a:p>
          <a:p>
            <a:pPr algn="l">
              <a:lnSpc>
                <a:spcPts val="3886"/>
              </a:lnSpc>
            </a:pPr>
            <a:r>
              <a:rPr lang="en-US" sz="3599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nagrađen trud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335866" y="4800600"/>
            <a:ext cx="1640187" cy="1961093"/>
          </a:xfrm>
          <a:custGeom>
            <a:avLst/>
            <a:gdLst/>
            <a:ahLst/>
            <a:cxnLst/>
            <a:rect r="r" b="b" t="t" l="l"/>
            <a:pathLst>
              <a:path h="1961093" w="1640187">
                <a:moveTo>
                  <a:pt x="0" y="0"/>
                </a:moveTo>
                <a:lnTo>
                  <a:pt x="1640187" y="0"/>
                </a:lnTo>
                <a:lnTo>
                  <a:pt x="1640187" y="1961093"/>
                </a:lnTo>
                <a:lnTo>
                  <a:pt x="0" y="1961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5" t="0" r="-205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5381872" y="2816005"/>
            <a:ext cx="1548175" cy="1449479"/>
            <a:chOff x="0" y="0"/>
            <a:chExt cx="2064233" cy="19326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64258" cy="1932686"/>
            </a:xfrm>
            <a:custGeom>
              <a:avLst/>
              <a:gdLst/>
              <a:ahLst/>
              <a:cxnLst/>
              <a:rect r="r" b="b" t="t" l="l"/>
              <a:pathLst>
                <a:path h="1932686" w="2064258">
                  <a:moveTo>
                    <a:pt x="0" y="0"/>
                  </a:moveTo>
                  <a:lnTo>
                    <a:pt x="2064258" y="0"/>
                  </a:lnTo>
                  <a:lnTo>
                    <a:pt x="2064258" y="1932686"/>
                  </a:lnTo>
                  <a:lnTo>
                    <a:pt x="0" y="1932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" r="1" b="-5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3828391" y="6990293"/>
            <a:ext cx="3147662" cy="1959419"/>
          </a:xfrm>
          <a:custGeom>
            <a:avLst/>
            <a:gdLst/>
            <a:ahLst/>
            <a:cxnLst/>
            <a:rect r="r" b="b" t="t" l="l"/>
            <a:pathLst>
              <a:path h="1959419" w="3147662">
                <a:moveTo>
                  <a:pt x="0" y="0"/>
                </a:moveTo>
                <a:lnTo>
                  <a:pt x="3147662" y="0"/>
                </a:lnTo>
                <a:lnTo>
                  <a:pt x="3147662" y="1959419"/>
                </a:lnTo>
                <a:lnTo>
                  <a:pt x="0" y="19594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1" t="0" r="-11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1164945" y="2765625"/>
            <a:ext cx="2654618" cy="1499859"/>
            <a:chOff x="0" y="0"/>
            <a:chExt cx="3539491" cy="19998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39490" cy="1999869"/>
            </a:xfrm>
            <a:custGeom>
              <a:avLst/>
              <a:gdLst/>
              <a:ahLst/>
              <a:cxnLst/>
              <a:rect r="r" b="b" t="t" l="l"/>
              <a:pathLst>
                <a:path h="1999869" w="3539490">
                  <a:moveTo>
                    <a:pt x="0" y="0"/>
                  </a:moveTo>
                  <a:lnTo>
                    <a:pt x="3539490" y="0"/>
                  </a:lnTo>
                  <a:lnTo>
                    <a:pt x="3539490" y="1999869"/>
                  </a:lnTo>
                  <a:lnTo>
                    <a:pt x="0" y="1999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" t="0" r="-4" b="2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1946129" y="4924561"/>
            <a:ext cx="2045666" cy="1667218"/>
          </a:xfrm>
          <a:custGeom>
            <a:avLst/>
            <a:gdLst/>
            <a:ahLst/>
            <a:cxnLst/>
            <a:rect r="r" b="b" t="t" l="l"/>
            <a:pathLst>
              <a:path h="1667218" w="2045666">
                <a:moveTo>
                  <a:pt x="0" y="0"/>
                </a:moveTo>
                <a:lnTo>
                  <a:pt x="2045666" y="0"/>
                </a:lnTo>
                <a:lnTo>
                  <a:pt x="2045666" y="1667218"/>
                </a:lnTo>
                <a:lnTo>
                  <a:pt x="0" y="16672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21" r="0" b="-221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464188" y="290925"/>
            <a:ext cx="1393117" cy="1475550"/>
          </a:xfrm>
          <a:custGeom>
            <a:avLst/>
            <a:gdLst/>
            <a:ahLst/>
            <a:cxnLst/>
            <a:rect r="r" b="b" t="t" l="l"/>
            <a:pathLst>
              <a:path h="1475550" w="1393117">
                <a:moveTo>
                  <a:pt x="0" y="0"/>
                </a:moveTo>
                <a:lnTo>
                  <a:pt x="1393116" y="0"/>
                </a:lnTo>
                <a:lnTo>
                  <a:pt x="1393116" y="1475550"/>
                </a:lnTo>
                <a:lnTo>
                  <a:pt x="0" y="14755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64188" y="290925"/>
            <a:ext cx="1393117" cy="1475550"/>
          </a:xfrm>
          <a:custGeom>
            <a:avLst/>
            <a:gdLst/>
            <a:ahLst/>
            <a:cxnLst/>
            <a:rect r="r" b="b" t="t" l="l"/>
            <a:pathLst>
              <a:path h="1475550" w="1393117">
                <a:moveTo>
                  <a:pt x="0" y="0"/>
                </a:moveTo>
                <a:lnTo>
                  <a:pt x="1393116" y="0"/>
                </a:lnTo>
                <a:lnTo>
                  <a:pt x="1393116" y="1475550"/>
                </a:lnTo>
                <a:lnTo>
                  <a:pt x="0" y="1475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532082"/>
            <a:ext cx="5854281" cy="5726218"/>
          </a:xfrm>
          <a:custGeom>
            <a:avLst/>
            <a:gdLst/>
            <a:ahLst/>
            <a:cxnLst/>
            <a:rect r="r" b="b" t="t" l="l"/>
            <a:pathLst>
              <a:path h="5726218" w="5854281">
                <a:moveTo>
                  <a:pt x="0" y="0"/>
                </a:moveTo>
                <a:lnTo>
                  <a:pt x="5854281" y="0"/>
                </a:lnTo>
                <a:lnTo>
                  <a:pt x="5854281" y="5726218"/>
                </a:lnTo>
                <a:lnTo>
                  <a:pt x="0" y="57262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19175"/>
            <a:ext cx="5128371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003A53"/>
                </a:solidFill>
                <a:latin typeface="Rajdhani Bold"/>
                <a:ea typeface="Rajdhani Bold"/>
                <a:cs typeface="Rajdhani Bold"/>
                <a:sym typeface="Rajdhani Bold"/>
              </a:rPr>
              <a:t>PO ČEMU SMO JEDINSTVENI?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507483" y="4141509"/>
            <a:ext cx="1011056" cy="936424"/>
          </a:xfrm>
          <a:custGeom>
            <a:avLst/>
            <a:gdLst/>
            <a:ahLst/>
            <a:cxnLst/>
            <a:rect r="r" b="b" t="t" l="l"/>
            <a:pathLst>
              <a:path h="936424" w="1011056">
                <a:moveTo>
                  <a:pt x="0" y="0"/>
                </a:moveTo>
                <a:lnTo>
                  <a:pt x="1011056" y="0"/>
                </a:lnTo>
                <a:lnTo>
                  <a:pt x="1011056" y="936424"/>
                </a:lnTo>
                <a:lnTo>
                  <a:pt x="0" y="9364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482888" y="4485105"/>
            <a:ext cx="4694824" cy="59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4220" b="true">
                <a:solidFill>
                  <a:srgbClr val="003A53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Jasna strategija.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82888" y="5866638"/>
            <a:ext cx="5981300" cy="588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4220" b="true">
                <a:solidFill>
                  <a:srgbClr val="003A53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Snažan i posvećen tim.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507483" y="5671027"/>
            <a:ext cx="1011056" cy="936424"/>
          </a:xfrm>
          <a:custGeom>
            <a:avLst/>
            <a:gdLst/>
            <a:ahLst/>
            <a:cxnLst/>
            <a:rect r="r" b="b" t="t" l="l"/>
            <a:pathLst>
              <a:path h="936424" w="1011056">
                <a:moveTo>
                  <a:pt x="0" y="0"/>
                </a:moveTo>
                <a:lnTo>
                  <a:pt x="1011056" y="0"/>
                </a:lnTo>
                <a:lnTo>
                  <a:pt x="1011056" y="936424"/>
                </a:lnTo>
                <a:lnTo>
                  <a:pt x="0" y="9364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07483" y="7196990"/>
            <a:ext cx="1011056" cy="936424"/>
          </a:xfrm>
          <a:custGeom>
            <a:avLst/>
            <a:gdLst/>
            <a:ahLst/>
            <a:cxnLst/>
            <a:rect r="r" b="b" t="t" l="l"/>
            <a:pathLst>
              <a:path h="936424" w="1011056">
                <a:moveTo>
                  <a:pt x="0" y="0"/>
                </a:moveTo>
                <a:lnTo>
                  <a:pt x="1011056" y="0"/>
                </a:lnTo>
                <a:lnTo>
                  <a:pt x="1011056" y="936424"/>
                </a:lnTo>
                <a:lnTo>
                  <a:pt x="0" y="9364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82888" y="7392600"/>
            <a:ext cx="5981300" cy="59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4220" b="true">
                <a:solidFill>
                  <a:srgbClr val="003A53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Kontinuiran razvoj.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A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22945" y="2941320"/>
            <a:ext cx="6636355" cy="6316980"/>
          </a:xfrm>
          <a:custGeom>
            <a:avLst/>
            <a:gdLst/>
            <a:ahLst/>
            <a:cxnLst/>
            <a:rect r="r" b="b" t="t" l="l"/>
            <a:pathLst>
              <a:path h="6316980" w="6636355">
                <a:moveTo>
                  <a:pt x="0" y="0"/>
                </a:moveTo>
                <a:lnTo>
                  <a:pt x="6636355" y="0"/>
                </a:lnTo>
                <a:lnTo>
                  <a:pt x="6636355" y="6316980"/>
                </a:lnTo>
                <a:lnTo>
                  <a:pt x="0" y="6316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83107"/>
            <a:ext cx="8458186" cy="607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4"/>
              </a:lnSpc>
            </a:pPr>
            <a:r>
              <a:rPr lang="en-US" sz="3945" b="true">
                <a:solidFill>
                  <a:srgbClr val="F7F4F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RADUJEMO SE RADU S TOBOM,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90439"/>
            <a:ext cx="7628976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b="true" sz="9999" strike="noStrike" u="none">
                <a:solidFill>
                  <a:srgbClr val="F7F4F0"/>
                </a:solidFill>
                <a:latin typeface="Rajdhani Bold"/>
                <a:ea typeface="Rajdhani Bold"/>
                <a:cs typeface="Rajdhani Bold"/>
                <a:sym typeface="Rajdhani Bold"/>
              </a:rPr>
              <a:t>SVETOZARE!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DAHS7sS08G0</dc:identifier>
  <dcterms:modified xsi:type="dcterms:W3CDTF">2011-08-01T06:04:30Z</dcterms:modified>
  <cp:revision>1</cp:revision>
  <dc:title>Dobrodošlica Svetozar Mišić</dc:title>
</cp:coreProperties>
</file>